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4" r:id="rId15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966960" y="-548640"/>
            <a:ext cx="3108960" cy="3108960"/>
          </a:xfrm>
          <a:prstGeom prst="roundRect">
            <a:avLst/>
          </a:prstGeom>
          <a:solidFill>
            <a:srgbClr val="1B4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89920" y="5943600"/>
            <a:ext cx="2560320" cy="2560320"/>
          </a:xfrm>
          <a:prstGeom prst="roundRect">
            <a:avLst/>
          </a:prstGeom>
          <a:solidFill>
            <a:srgbClr val="216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68680"/>
            <a:ext cx="1508760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900684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DATABASE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7665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E-commerce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95728"/>
            <a:ext cx="676656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Database &amp;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54680"/>
            <a:ext cx="585216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0">
                <a:solidFill>
                  <a:srgbClr val="D6E5F5"/>
                </a:solidFill>
                <a:latin typeface="Aptos"/>
              </a:defRPr>
            </a:pPr>
            <a:r>
              <a:t>A presentation of the project interface, frontend and backend, database design, ERD, and SQL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011680"/>
            <a:ext cx="2514600" cy="2331720"/>
          </a:xfrm>
          <a:prstGeom prst="roundRect">
            <a:avLst/>
          </a:prstGeom>
          <a:solidFill>
            <a:srgbClr val="1A3D5E"/>
          </a:solidFill>
          <a:ln w="12700">
            <a:solidFill>
              <a:srgbClr val="456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2340864"/>
            <a:ext cx="210312" cy="210312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79408" y="2331720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971800"/>
            <a:ext cx="210312" cy="210312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2962656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602736"/>
            <a:ext cx="210312" cy="210312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8" y="3593592"/>
            <a:ext cx="155448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5088" y="2633472"/>
            <a:ext cx="0" cy="182880"/>
          </a:xfrm>
          <a:prstGeom prst="line">
            <a:avLst/>
          </a:prstGeom>
          <a:ln w="19050">
            <a:solidFill>
              <a:srgbClr val="D6E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05088" y="3264408"/>
            <a:ext cx="0" cy="182880"/>
          </a:xfrm>
          <a:prstGeom prst="line">
            <a:avLst/>
          </a:prstGeom>
          <a:ln w="19050">
            <a:solidFill>
              <a:srgbClr val="D6E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6089904"/>
            <a:ext cx="6400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D6E5F5"/>
                </a:solidFill>
                <a:latin typeface="Aptos"/>
              </a:defRPr>
            </a:pPr>
            <a:r>
              <a:t>PROJECT PRESENTATION  |  SQL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01 /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What does the project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 real product-detail screen from the running NEXORA marketplace.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55648"/>
            <a:ext cx="333756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29968"/>
            <a:ext cx="2816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2864DC"/>
                </a:solidFill>
                <a:latin typeface="Aptos"/>
              </a:defRPr>
            </a:pPr>
            <a:r>
              <a:t>PROJECT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41448"/>
            <a:ext cx="2816352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02A43"/>
                </a:solidFill>
                <a:latin typeface="Aptos"/>
              </a:defRPr>
            </a:pPr>
            <a:r>
              <a:t>A marketplace page for viewing a product and placing an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401568"/>
            <a:ext cx="2770632" cy="2103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20334A"/>
                </a:solidFill>
                <a:latin typeface="Aptos"/>
              </a:defRPr>
            </a:pPr>
            <a:r>
              <a:t>The screenshot shows the NEXORA product-detail page, including:</a:t>
            </a:r>
            <a:br/>
            <a:br/>
            <a:r>
              <a:t>? Product image and category</a:t>
            </a:r>
            <a:br/>
            <a:r>
              <a:t>? Name, description, and price</a:t>
            </a:r>
            <a:br/>
            <a:r>
              <a:t>? Stock and quantity controls</a:t>
            </a:r>
            <a:br/>
            <a:r>
              <a:t>? Add to Cart and Buy now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37360"/>
            <a:ext cx="7424927" cy="4178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xora_produc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847088"/>
            <a:ext cx="7223760" cy="40599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6373368"/>
            <a:ext cx="11183112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01384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PROJECT OVERVIEW AND LIVE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01 / PROJECT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NEXORA sign-in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 real screenshot of the running project login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55648"/>
            <a:ext cx="333756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29968"/>
            <a:ext cx="2816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2864DC"/>
                </a:solidFill>
                <a:latin typeface="Aptos"/>
              </a:defRPr>
            </a:pPr>
            <a:r>
              <a:t>ACCOUNT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41448"/>
            <a:ext cx="2816352" cy="713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02A43"/>
                </a:solidFill>
                <a:latin typeface="Aptos"/>
              </a:defRPr>
            </a:pPr>
            <a:r>
              <a:t>Sign in to access the online store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37560"/>
            <a:ext cx="2770632" cy="2240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20334A"/>
                </a:solidFill>
                <a:latin typeface="Aptos"/>
              </a:defRPr>
            </a:pPr>
            <a:r>
              <a:t>This screen lets a customer:</a:t>
            </a:r>
            <a:br/>
            <a:br/>
            <a:r>
              <a:t>- Enter an email address and password</a:t>
            </a:r>
            <a:br/>
            <a:r>
              <a:t>- Sign in to their account</a:t>
            </a:r>
            <a:br/>
            <a:r>
              <a:t>- Access saved products, cart, orders, and delivery addresses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37360"/>
            <a:ext cx="7424927" cy="4178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xora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104" y="1847088"/>
            <a:ext cx="7223760" cy="40599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2920" y="6373368"/>
            <a:ext cx="11183112" cy="9144"/>
          </a:xfrm>
          <a:prstGeom prst="rect">
            <a:avLst/>
          </a:prstGeom>
          <a:solidFill>
            <a:srgbClr val="D8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01384"/>
            <a:ext cx="914400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LIVE PROJECT LOGIN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FRONTEND, BACKEND, AND DATABASE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02 /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Three layers work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 clear separation makes the application easier to build and maintain.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364992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3364992" cy="45720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984248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01 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542032"/>
            <a:ext cx="2880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02A43"/>
                </a:solidFill>
                <a:latin typeface="Aptos"/>
              </a:defRPr>
            </a:pPr>
            <a:r>
              <a:t>The user-facing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337560"/>
            <a:ext cx="2852928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20334A"/>
                </a:solidFill>
                <a:latin typeface="Aptos"/>
              </a:defRPr>
            </a:pPr>
            <a:r>
              <a:t>Shows products, filters, cart, and order details. Sends requests to the backend.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736592"/>
            <a:ext cx="2999232" cy="384048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2"/>
            <a:ext cx="290779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50" b="1">
                <a:solidFill>
                  <a:srgbClr val="2AB3C0"/>
                </a:solidFill>
                <a:latin typeface="Aptos"/>
              </a:defRPr>
            </a:pPr>
            <a:r>
              <a:t>HTML | CSS | 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74519"/>
            <a:ext cx="3364992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07408" y="1874519"/>
            <a:ext cx="3364992" cy="45720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984248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02 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542032"/>
            <a:ext cx="2880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02A43"/>
                </a:solidFill>
                <a:latin typeface="Aptos"/>
              </a:defRPr>
            </a:pPr>
            <a:r>
              <a:t>The application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337560"/>
            <a:ext cx="2852928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20334A"/>
                </a:solidFill>
                <a:latin typeface="Aptos"/>
              </a:defRPr>
            </a:pPr>
            <a:r>
              <a:t>Receives requests, validates input, applies business rules, and runs database queries.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0288" y="4736592"/>
            <a:ext cx="2999232" cy="384048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4828032"/>
            <a:ext cx="290779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50" b="1">
                <a:solidFill>
                  <a:srgbClr val="2864DC"/>
                </a:solidFill>
                <a:latin typeface="Aptos"/>
              </a:defRPr>
            </a:pPr>
            <a:r>
              <a:t>API | validation | 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1874519"/>
            <a:ext cx="3364992" cy="3401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29016" y="1874519"/>
            <a:ext cx="3364992" cy="457200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984248"/>
            <a:ext cx="292608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03 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542032"/>
            <a:ext cx="288036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400" b="1">
                <a:solidFill>
                  <a:srgbClr val="102A43"/>
                </a:solidFill>
                <a:latin typeface="Aptos"/>
              </a:defRPr>
            </a:pPr>
            <a:r>
              <a:t>The persistent data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337560"/>
            <a:ext cx="2852928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20334A"/>
                </a:solidFill>
                <a:latin typeface="Aptos"/>
              </a:defRPr>
            </a:pPr>
            <a:r>
              <a:t>Stores products, categories, customers, orders, and order items in related tables.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11896" y="4736592"/>
            <a:ext cx="2999232" cy="384048"/>
          </a:xfrm>
          <a:prstGeom prst="round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4828032"/>
            <a:ext cx="2907792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50" b="1">
                <a:solidFill>
                  <a:srgbClr val="2D9B78"/>
                </a:solidFill>
                <a:latin typeface="Aptos"/>
              </a:defRPr>
            </a:pPr>
            <a:r>
              <a:t>tables | keys | relations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14800" y="3611880"/>
            <a:ext cx="237744" cy="0"/>
          </a:xfrm>
          <a:prstGeom prst="line">
            <a:avLst/>
          </a:prstGeom>
          <a:ln w="19050">
            <a:solidFill>
              <a:srgbClr val="286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36408" y="3611880"/>
            <a:ext cx="237744" cy="0"/>
          </a:xfrm>
          <a:prstGeom prst="line">
            <a:avLst/>
          </a:prstGeom>
          <a:ln w="19050">
            <a:solidFill>
              <a:srgbClr val="286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78992" y="5486400"/>
            <a:ext cx="10012680" cy="45720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C3E7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605272"/>
            <a:ext cx="9784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16324F"/>
                </a:solidFill>
                <a:latin typeface="Aptos"/>
              </a:defRPr>
            </a:pPr>
            <a:r>
              <a:t>User action  -&gt;  frontend request  -&gt;  backend processing  -&gt;  database query  -&gt;  results displayed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DATABASE TABLES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03 / 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Tables keep information organized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Primary keys identify rows; foreign keys connect related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066543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48716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customer_id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75234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name | email | phone | 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07238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One customer can place many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965960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07408" y="1965960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66543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8716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category_id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5234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category_name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7238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One category can contain many products.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1965960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0456" y="1965960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2066543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48716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product_id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75234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FK category_id | name | price | stock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307238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Each product belongs to a category.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87168" y="3977639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87168" y="3977639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0" y="4078224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49884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order_id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76402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FK customer_id | date | total |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08406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Each order belongs to one customer.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3977639"/>
            <a:ext cx="3383280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0216" y="3977639"/>
            <a:ext cx="3383280" cy="402336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7" y="4078224"/>
            <a:ext cx="30175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ORDER_ITEMS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4498848"/>
            <a:ext cx="301752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50" b="1">
                <a:solidFill>
                  <a:srgbClr val="2864DC"/>
                </a:solidFill>
                <a:latin typeface="Aptos"/>
              </a:defRPr>
            </a:pPr>
            <a:r>
              <a:t>PK order_item_id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7" y="4764024"/>
            <a:ext cx="3017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10" b="0">
                <a:solidFill>
                  <a:srgbClr val="20334A"/>
                </a:solidFill>
                <a:latin typeface="Aptos"/>
              </a:defRPr>
            </a:pPr>
            <a:r>
              <a:t>FK order_id | FK product_id | quantity | price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7" y="508406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1758A"/>
                </a:solidFill>
                <a:latin typeface="Aptos"/>
              </a:defRPr>
            </a:pPr>
            <a:r>
              <a:t>Connects ordered products with orders.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897880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1758A"/>
                </a:solidFill>
                <a:latin typeface="Aptos"/>
              </a:defRPr>
            </a:pPr>
            <a:r>
              <a:t>PK = Primary Key    |    FK = Foreign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g.pg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778" y="0"/>
            <a:ext cx="89641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CRUD, FILTERING, AND SORTING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05 / SQL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Find and manage product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CRUD means Create, Read, Update, and Delete.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7033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31089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CRUD 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78608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610612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 / INSERT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624327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Add a product 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55263"/>
            <a:ext cx="1298448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287268"/>
            <a:ext cx="1225295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READ /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300983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View and search products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931920"/>
            <a:ext cx="1298448" cy="274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963924"/>
            <a:ext cx="1225295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3977639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Change price or stock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08575"/>
            <a:ext cx="1298448" cy="274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640579"/>
            <a:ext cx="1225295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4654295"/>
            <a:ext cx="1508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20334A"/>
                </a:solidFill>
                <a:latin typeface="Aptos"/>
              </a:defRPr>
            </a:pPr>
            <a:r>
              <a:t>Remove a selected 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49824"/>
            <a:ext cx="3154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69" b="0">
                <a:solidFill>
                  <a:srgbClr val="61758A"/>
                </a:solidFill>
                <a:latin typeface="Aptos"/>
              </a:defRPr>
            </a:pPr>
            <a:r>
              <a:t>Use WHERE with UPDATE and DELETE so only the intended row is changed.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1691640"/>
            <a:ext cx="7059168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1965960"/>
            <a:ext cx="457200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FILTER + SORT EXAMPLE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2743200"/>
            <a:ext cx="6492240" cy="196596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6904" y="2852928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SELECT product_name, 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6904" y="3010662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FROM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6904" y="3168396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WHERE price BETWEEN 500 AND 1500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46904" y="3326130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  AND product_name LIKE '%Laptop%'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46904" y="3483864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ORDER BY price DESC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6904" y="3641598"/>
            <a:ext cx="6199631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LIMIT 5 OFFSET 0;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882896"/>
            <a:ext cx="62179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WHERE | AND | OR | NOT | IN | BETWEEN | LIKE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193792"/>
            <a:ext cx="630936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ORDER BY | LIMIT | OFFSET - find, sort, and page through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9144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1">
                <a:solidFill>
                  <a:srgbClr val="61758A"/>
                </a:solidFill>
                <a:latin typeface="Aptos"/>
              </a:defRPr>
            </a:pPr>
            <a:r>
              <a:t>AGGREGATES AND JOINS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73368"/>
            <a:ext cx="11183112" cy="0"/>
          </a:xfrm>
          <a:prstGeom prst="line">
            <a:avLst/>
          </a:prstGeom>
          <a:ln w="7620">
            <a:solidFill>
              <a:srgbClr val="D8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84280" y="6501384"/>
            <a:ext cx="32004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800" b="1">
                <a:solidFill>
                  <a:srgbClr val="61758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8229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06 / SUMMARIZE AND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86384"/>
            <a:ext cx="10972800" cy="42062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02A43"/>
                </a:solidFill>
                <a:latin typeface="Aptos"/>
              </a:defRPr>
            </a:pPr>
            <a:r>
              <a:t>SQL answers bigger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50" b="0">
                <a:solidFill>
                  <a:srgbClr val="61758A"/>
                </a:solidFill>
                <a:latin typeface="Aptos"/>
              </a:defRPr>
            </a:pPr>
            <a:r>
              <a:t>Aggregates summarize rows; joins combine related information from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534924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44805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AGGREGATE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4805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0334A"/>
                </a:solidFill>
                <a:latin typeface="Aptos"/>
              </a:defRPr>
            </a:pPr>
            <a:r>
              <a:t>Use these to calculate summaries from many rows.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88920"/>
            <a:ext cx="4800600" cy="1993392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3" y="2898648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SELECT category_id,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3056382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       COUNT(*) AS products,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3214115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       AVG(price) AS avg_price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3371850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FROM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3529584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GROUP BY category_id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3687318"/>
            <a:ext cx="4507992" cy="21259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16324F"/>
                </a:solidFill>
                <a:latin typeface="Consolas"/>
              </a:defRPr>
            </a:pPr>
            <a:r>
              <a:t>HAVING AVG(price) &gt; 500;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10912"/>
            <a:ext cx="45720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2864DC"/>
                </a:solidFill>
                <a:latin typeface="Aptos"/>
              </a:defRPr>
            </a:pPr>
            <a:r>
              <a:t>COUNT | SUM | AVG | MIN | 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21808"/>
            <a:ext cx="466344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80" b="0">
                <a:solidFill>
                  <a:srgbClr val="61758A"/>
                </a:solidFill>
                <a:latin typeface="Aptos"/>
              </a:defRPr>
            </a:pPr>
            <a:r>
              <a:t>GROUP BY groups; HAVING filters those groups.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367528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43891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1">
                <a:solidFill>
                  <a:srgbClr val="2864DC"/>
                </a:solidFill>
                <a:latin typeface="Aptos"/>
              </a:defRPr>
            </a:pPr>
            <a:r>
              <a:t>JOINS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423160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2455164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INNER 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2468879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only matching rows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907791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2939796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LEFT 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2953511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all left rows + matches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392424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424428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RIGHT JOIN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3438144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all right rows + matches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877056"/>
            <a:ext cx="182880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3909060"/>
            <a:ext cx="175564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FULL OUTER JOIN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922776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all rows from either side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361688"/>
            <a:ext cx="150876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4393692"/>
            <a:ext cx="1435607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SELF JOIN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407407"/>
            <a:ext cx="265176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0334A"/>
                </a:solidFill>
                <a:latin typeface="Aptos"/>
              </a:defRPr>
            </a:pPr>
            <a:r>
              <a:t>a table joined to itself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983480"/>
            <a:ext cx="4754880" cy="6858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8544" y="5093208"/>
            <a:ext cx="4462272" cy="18806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60" b="0">
                <a:solidFill>
                  <a:srgbClr val="16324F"/>
                </a:solidFill>
                <a:latin typeface="Consolas"/>
              </a:defRPr>
            </a:pPr>
            <a:r>
              <a:t>SELECT c.name, o.order_id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38544" y="5226405"/>
            <a:ext cx="4462272" cy="188061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760" b="0">
                <a:solidFill>
                  <a:srgbClr val="16324F"/>
                </a:solidFill>
                <a:latin typeface="Consolas"/>
              </a:defRPr>
            </a:pPr>
            <a:r>
              <a:t>FROM Customers c JOIN Orders o ON c.customer_id = o.customer_id;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58400" y="-457200"/>
            <a:ext cx="2743200" cy="2743200"/>
          </a:xfrm>
          <a:prstGeom prst="roundRect">
            <a:avLst/>
          </a:prstGeom>
          <a:solidFill>
            <a:srgbClr val="1B4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5943600"/>
            <a:ext cx="2377440" cy="2377440"/>
          </a:xfrm>
          <a:prstGeom prst="roundRect">
            <a:avLst/>
          </a:prstGeom>
          <a:solidFill>
            <a:srgbClr val="1D5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868680"/>
            <a:ext cx="1783080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900684"/>
            <a:ext cx="170992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END OF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73152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5720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000" b="0">
                <a:solidFill>
                  <a:srgbClr val="D6E5F5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417320" cy="274320"/>
          </a:xfrm>
          <a:prstGeom prst="roundRect">
            <a:avLst/>
          </a:prstGeom>
          <a:solidFill>
            <a:srgbClr val="286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794760"/>
            <a:ext cx="1417320" cy="274320"/>
          </a:xfrm>
          <a:prstGeom prst="roundRect">
            <a:avLst/>
          </a:prstGeom>
          <a:solidFill>
            <a:srgbClr val="2AB3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3-TIER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794760"/>
            <a:ext cx="1417320" cy="274320"/>
          </a:xfrm>
          <a:prstGeom prst="roundRect">
            <a:avLst/>
          </a:prstGeom>
          <a:solidFill>
            <a:srgbClr val="2D9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ERD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3794760"/>
            <a:ext cx="1417320" cy="274320"/>
          </a:xfrm>
          <a:prstGeom prst="roundRect">
            <a:avLst/>
          </a:prstGeom>
          <a:solidFill>
            <a:srgbClr val="E5A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3826764"/>
            <a:ext cx="1344168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19472"/>
            <a:ext cx="9875520" cy="548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D6E5F5"/>
                </a:solidFill>
                <a:latin typeface="Aptos"/>
              </a:defRPr>
            </a:pPr>
            <a:r>
              <a:t>Project interface  |  Frontend  |  Backend  |  Database  |  Tables  |  SQL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26480"/>
            <a:ext cx="64008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D6E5F5"/>
                </a:solidFill>
                <a:latin typeface="Aptos"/>
              </a:defRPr>
            </a:pPr>
            <a:r>
              <a:t>E-COMMERCE STORE DATABASE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