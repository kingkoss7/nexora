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4" r:id="rId15"/>
    <p:sldId id="258" r:id="rId9"/>
    <p:sldId id="259" r:id="rId10"/>
    <p:sldId id="260" r:id="rId11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3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66960" y="-548640"/>
            <a:ext cx="3108960" cy="3108960"/>
          </a:xfrm>
          <a:prstGeom prst="roundRect">
            <a:avLst/>
          </a:prstGeom>
          <a:solidFill>
            <a:srgbClr val="1B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5943600"/>
            <a:ext cx="2560320" cy="2560320"/>
          </a:xfrm>
          <a:prstGeom prst="roundRect">
            <a:avLst/>
          </a:prstGeom>
          <a:solidFill>
            <a:srgbClr val="21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150876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900684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DATABASE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766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6766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Database &amp;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585216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D6E5F5"/>
                </a:solidFill>
                <a:latin typeface="Aptos"/>
              </a:defRPr>
            </a:pPr>
            <a:r>
              <a:t>A presentation of the project interface, frontend and backend, database design, ERD, and SQL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011680"/>
            <a:ext cx="2514600" cy="233172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456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2340864"/>
            <a:ext cx="210312" cy="210312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233172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971800"/>
            <a:ext cx="210312" cy="210312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2962656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602736"/>
            <a:ext cx="210312" cy="210312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3593592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2633472"/>
            <a:ext cx="0" cy="182880"/>
          </a:xfrm>
          <a:prstGeom prst="line">
            <a:avLst/>
          </a:prstGeom>
          <a:ln w="19050">
            <a:solidFill>
              <a:srgbClr val="D6E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3264408"/>
            <a:ext cx="0" cy="182880"/>
          </a:xfrm>
          <a:prstGeom prst="line">
            <a:avLst/>
          </a:prstGeom>
          <a:ln w="19050">
            <a:solidFill>
              <a:srgbClr val="D6E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6089904"/>
            <a:ext cx="6400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D6E5F5"/>
                </a:solidFill>
                <a:latin typeface="Aptos"/>
              </a:defRPr>
            </a:pPr>
            <a:r>
              <a:t>PROJECT PRESENTATION  |  SQL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01 /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What does the project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real product-detail screen from the running NEXORA marketplace.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333756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2816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2864DC"/>
                </a:solidFill>
                <a:latin typeface="Aptos"/>
              </a:defRPr>
            </a:pPr>
            <a:r>
              <a:t>PROJECT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2816352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02A43"/>
                </a:solidFill>
                <a:latin typeface="Aptos"/>
              </a:defRPr>
            </a:pPr>
            <a:r>
              <a:t>A marketplace page for viewing a product and placing an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01568"/>
            <a:ext cx="2770632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The screenshot shows the NEXORA product-detail page, including:</a:t>
            </a:r>
            <a:br/>
            <a:br/>
            <a:r>
              <a:t>? Product image and category</a:t>
            </a:r>
            <a:br/>
            <a:r>
              <a:t>? Name, description, and price</a:t>
            </a:r>
            <a:br/>
            <a:r>
              <a:t>? Stock and quantity controls</a:t>
            </a:r>
            <a:br/>
            <a:r>
              <a:t>? Add to Cart and Buy now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7424927" cy="4178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xora_produc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47088"/>
            <a:ext cx="7223760" cy="4059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373368"/>
            <a:ext cx="11183112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01384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PROJECT OVERVIEW AND LIVE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01 / PROJECT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NEXORA sign-in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real screenshot of the running project login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333756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2816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2864DC"/>
                </a:solidFill>
                <a:latin typeface="Aptos"/>
              </a:defRPr>
            </a:pPr>
            <a:r>
              <a:t>ACCOUNT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2816352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02A43"/>
                </a:solidFill>
                <a:latin typeface="Aptos"/>
              </a:defRPr>
            </a:pPr>
            <a:r>
              <a:t>Sign in to access the online store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37560"/>
            <a:ext cx="2770632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This screen lets a customer:</a:t>
            </a:r>
            <a:br/>
            <a:br/>
            <a:r>
              <a:t>- Enter an email address and password</a:t>
            </a:r>
            <a:br/>
            <a:r>
              <a:t>- Sign in to their account</a:t>
            </a:r>
            <a:br/>
            <a:r>
              <a:t>- Access saved products, cart, orders, and delivery addresses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7424927" cy="4178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xora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47088"/>
            <a:ext cx="7223760" cy="4059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373368"/>
            <a:ext cx="11183112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01384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LIVE PROJECT LOGIN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FRONTEND, BACKEND, AND DATABASE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02 /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Three layers work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clear separation makes the application easier to build and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364992" cy="45720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01 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user-facing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Shows products, filters, cart, and order details. Sends requests to the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AB3C0"/>
                </a:solidFill>
                <a:latin typeface="Aptos"/>
              </a:defRPr>
            </a:pPr>
            <a:r>
              <a:t>HTML | CSS |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7408" y="1874519"/>
            <a:ext cx="3364992" cy="45720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02 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application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Receives requests, validates input, applies business rules, and runs database queries.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864DC"/>
                </a:solidFill>
                <a:latin typeface="Aptos"/>
              </a:defRPr>
            </a:pPr>
            <a:r>
              <a:t>API | validation | 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1874519"/>
            <a:ext cx="3364992" cy="45720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03 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persistent data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Stores products, categories, customers, orders, and order items in related tables.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D9B78"/>
                </a:solidFill>
                <a:latin typeface="Aptos"/>
              </a:defRPr>
            </a:pPr>
            <a:r>
              <a:t>tables | keys | relations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3611880"/>
            <a:ext cx="237744" cy="0"/>
          </a:xfrm>
          <a:prstGeom prst="line">
            <a:avLst/>
          </a:prstGeom>
          <a:ln w="1905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36408" y="3611880"/>
            <a:ext cx="237744" cy="0"/>
          </a:xfrm>
          <a:prstGeom prst="line">
            <a:avLst/>
          </a:prstGeom>
          <a:ln w="1905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78992" y="5486400"/>
            <a:ext cx="10012680" cy="4572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C3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605272"/>
            <a:ext cx="9784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6324F"/>
                </a:solidFill>
                <a:latin typeface="Aptos"/>
              </a:defRPr>
            </a:pPr>
            <a:r>
              <a:t>User action  -&gt;  frontend request  -&gt;  backend processing  -&gt;  database query  -&gt;  results displayed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DATABASE TABLES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03 /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Tables keep information organized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Primary keys identify rows; foreign keys connect related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customer_id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name | email | phone |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One customer can place many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7408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category_id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category_name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One category can contain many products.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0456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product_id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category_id | name | price |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Each product belongs to a category.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3977639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87168" y="3977639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07822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49884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order_id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76402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customer_id | date | total |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84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Each order belongs to one customer.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977639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0216" y="3977639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7" y="407822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ORDER_ITEMS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49884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order_item_id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476402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order_id | FK product_id | quantity |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5084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Connects ordered products with orders.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1758A"/>
                </a:solidFill>
                <a:latin typeface="Aptos"/>
              </a:defRPr>
            </a:pPr>
            <a:r>
              <a:t>PK = Primary Key    |    FK = Foreign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g.pg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78" y="0"/>
            <a:ext cx="89641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CRUD, FILTERING, AND SORTING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05 / SQL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Find and manage product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CRUD means Create, Read, Update, and Delete.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703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1089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78608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610612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/ 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624327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Add a product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55263"/>
            <a:ext cx="1298448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87268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READ /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300983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View and search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31920"/>
            <a:ext cx="1298448" cy="274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963924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977639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Change price or stock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08575"/>
            <a:ext cx="1298448" cy="274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640579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4654295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Remove a selected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9824"/>
            <a:ext cx="3154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61758A"/>
                </a:solidFill>
                <a:latin typeface="Aptos"/>
              </a:defRPr>
            </a:pPr>
            <a:r>
              <a:t>Use WHERE with UPDATE and DELETE so only the intended row is changed.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1691640"/>
            <a:ext cx="7059168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1965960"/>
            <a:ext cx="457200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FILTER + SORT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743200"/>
            <a:ext cx="6492240" cy="19659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2852928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SELECT product_name,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3010662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3168396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WHERE price BETWEEN 500 AND 1500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326130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AND product_name LIKE '%Laptop%'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6904" y="3483864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ORDER BY price DESC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904" y="3641598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LIMIT 5 OFFSET 0;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882896"/>
            <a:ext cx="62179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WHERE | AND | OR | NOT | IN | BETWEEN | LIKE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193792"/>
            <a:ext cx="6309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ORDER BY | LIMIT | OFFSET - find, sort, and page through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AGGREGATES AND JOINS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06 / SUMMARIZE AND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SQL answers bigger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Aggregates summarize rows; joins combine related information from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492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4805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AGGREGATE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Use these to calculate summaries from many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4800600" cy="199339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2898648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SELECT category_id,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056382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     COUNT(*) AS products,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3214115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     AVG(price) AS avg_price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371850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3529584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GROUP BY category_id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3687318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HAVING AVG(price) &gt; 500;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1091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COUNT | SUM | AVG | MIN | 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21808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80" b="0">
                <a:solidFill>
                  <a:srgbClr val="61758A"/>
                </a:solidFill>
                <a:latin typeface="Aptos"/>
              </a:defRPr>
            </a:pPr>
            <a:r>
              <a:t>GROUP BY groups; HAVING filters those groups.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367528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43891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423160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455164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INNER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468879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only matching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907791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939796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LEFT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2953511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left rows + matches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392424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424428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RIGHT JOIN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438144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right rows + matches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877056"/>
            <a:ext cx="182880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909060"/>
            <a:ext cx="175564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FULL OUTER JOIN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922776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rows from either side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61688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4393692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SELF JOIN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407407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 table joined to itself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983480"/>
            <a:ext cx="4754880" cy="6858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5093208"/>
            <a:ext cx="4462272" cy="18806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SELECT c.name, o.order_id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5226405"/>
            <a:ext cx="4462272" cy="18806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FROM Customers c JOIN Orders o ON c.customer_id = o.customer_id;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00" y="-457200"/>
            <a:ext cx="2743200" cy="2743200"/>
          </a:xfrm>
          <a:prstGeom prst="roundRect">
            <a:avLst/>
          </a:prstGeom>
          <a:solidFill>
            <a:srgbClr val="1B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5943600"/>
            <a:ext cx="2377440" cy="2377440"/>
          </a:xfrm>
          <a:prstGeom prst="roundRect">
            <a:avLst/>
          </a:prstGeom>
          <a:solidFill>
            <a:srgbClr val="1D5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868680"/>
            <a:ext cx="178308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00684"/>
            <a:ext cx="1709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73152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5720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0">
                <a:solidFill>
                  <a:srgbClr val="D6E5F5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41732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794760"/>
            <a:ext cx="141732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3-TIER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794760"/>
            <a:ext cx="1417320" cy="27432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94760"/>
            <a:ext cx="1417320" cy="274320"/>
          </a:xfrm>
          <a:prstGeom prst="roundRect">
            <a:avLst/>
          </a:prstGeom>
          <a:solidFill>
            <a:srgbClr val="E5A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98755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D6E5F5"/>
                </a:solidFill>
                <a:latin typeface="Aptos"/>
              </a:defRPr>
            </a:pPr>
            <a:r>
              <a:t>Project interface  |  Frontend  |  Backend  |  Database  |  Tables  |  SQL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6400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D6E5F5"/>
                </a:solidFill>
                <a:latin typeface="Aptos"/>
              </a:defRPr>
            </a:pPr>
            <a:r>
              <a:t>E-COMMERCE STORE DATABASE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DATABASE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What each database table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The ERD contains 10 application tables plus Alembic migration history.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DATABASE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45920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" y="2093976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35124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12264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uid; name, email, password_hash,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64792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Customer and admin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523744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2971800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012948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addresses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90087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address_id; FK user_uid; recipient, phone, address, city, postal code, country, is_default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642615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Saved delivery destinations.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401568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" y="3849624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90772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867911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pid; name, description, category, price,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520439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Product catalog and inventory.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279392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" y="4727448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768596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745736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cid; FK user_uid; status, created_at, updated_at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398264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Active, converted, or abandoned carts.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5157216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" y="5605272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646420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cart_items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623559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cart_item_id; FK cart_cid, product_pid; quantity, added_at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276088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Cart lines; unique product per cart.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645920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59" y="2093976"/>
            <a:ext cx="1417320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2135124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wishlists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4696" y="2112264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wid; FK user_uid; name, created_at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1764792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Named saved-product lists.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2523744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59" y="2971800"/>
            <a:ext cx="1417320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012948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wishlist_items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4696" y="2990087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wishlist_item_id; FK wishlist_wid, product_pid; added_at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2642615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Products saved in each list.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0488" y="3401568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9359" y="3849624"/>
            <a:ext cx="1417320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3890772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4696" y="3867911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oid; FK user_uid; total, status, created_at, delivery snapshot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3520439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Purchase and delivery record.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0488" y="4279392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9359" y="4727448"/>
            <a:ext cx="1417320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4768596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order_items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54696" y="4745736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order_item_id; FK order_oid, product_pid; product_name, quantity, price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4398264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Purchased lines with snapshots.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0488" y="5157216"/>
            <a:ext cx="53766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09359" y="5605272"/>
            <a:ext cx="1417320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5646420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54696" y="5623559"/>
            <a:ext cx="3566160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50" b="1">
                <a:solidFill>
                  <a:srgbClr val="16324F"/>
                </a:solidFill>
                <a:latin typeface="Aptos"/>
              </a:defRPr>
            </a:pPr>
            <a:r>
              <a:t>PK payment_id; unique FK order_oid; method, status, amount, created_at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5276088"/>
            <a:ext cx="50749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61758A"/>
                </a:solidFill>
                <a:latin typeface="Aptos"/>
              </a:defRPr>
            </a:pPr>
            <a:r>
              <a:t>One COD payment per order.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DATABASE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Relationships and 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Foreign keys connect records and prevent orphaned records.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DATABASE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73936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users ? addresses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746504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4" y="1787652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to many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773936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A customer can save multiple delivery addresses.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85416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95144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users ? carts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267712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2504" y="2308860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to many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295144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Each cart belongs to a specific user.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06624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816352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carts ? cart_items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5072" y="2788920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2504" y="2830068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to many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816352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A cart contains multiple product 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27832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337560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products ? cart_items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3310128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2504" y="3351276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to many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337560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Products may appear in many carts.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49039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858768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users ? wishlists ? wishlist_items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5072" y="3831335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3872483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one-to-many 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858768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Wishlist items associate lists with saved products.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270248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379976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users ? orders ? order_items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05072" y="4352544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32504" y="4393692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one-to-many 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379976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Orders belong to customers and contain purchased lines.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91456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901184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products ? order_items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05072" y="4873752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2504" y="4914900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to many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4901184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Each line points to a product with purchase-time values.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312664"/>
            <a:ext cx="10927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422392"/>
            <a:ext cx="31089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1">
                <a:solidFill>
                  <a:srgbClr val="102A43"/>
                </a:solidFill>
                <a:latin typeface="Aptos"/>
              </a:defRPr>
            </a:pPr>
            <a:r>
              <a:t>orders ? payments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05072" y="5394959"/>
            <a:ext cx="16002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32504" y="5436107"/>
            <a:ext cx="15453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to 0/1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5422392"/>
            <a:ext cx="54864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20334A"/>
                </a:solidFill>
                <a:latin typeface="Aptos"/>
              </a:defRPr>
            </a:pPr>
            <a:r>
              <a:t>Unique payment order key; method is cash on delivery.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916168"/>
            <a:ext cx="10927080" cy="27432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971032"/>
            <a:ext cx="10607040" cy="14630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90" b="1">
                <a:solidFill>
                  <a:srgbClr val="16324F"/>
                </a:solidFill>
                <a:latin typeface="Aptos"/>
              </a:defRPr>
            </a:pPr>
            <a:r>
              <a:t>Integrity rules include non-negative prices/stock/payment amounts, positive quantities, unique cart/wishlist product rows, and valid order statuses.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How the real NEXORA app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Stack and data flow identified from the project README and source.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APPLICATION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11680"/>
            <a:ext cx="1143000" cy="265176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052828"/>
            <a:ext cx="10881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459736"/>
            <a:ext cx="3054096" cy="51206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300" b="1">
                <a:solidFill>
                  <a:srgbClr val="102A43"/>
                </a:solidFill>
                <a:latin typeface="Aptos"/>
              </a:defRPr>
            </a:pPr>
            <a:r>
              <a:t>Next.js ? React ? TypeScript ? Tailwind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27248"/>
            <a:ext cx="3044952" cy="96012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60" b="0">
                <a:solidFill>
                  <a:srgbClr val="20334A"/>
                </a:solidFill>
                <a:latin typeface="Aptos"/>
              </a:defRPr>
            </a:pPr>
            <a:r>
              <a:t>Renders storefront, login, product detail, cart, and admin pages. Calls the API and displays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18888"/>
            <a:ext cx="3090672" cy="365760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910328"/>
            <a:ext cx="2944368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50" b="1">
                <a:solidFill>
                  <a:srgbClr val="2AB3C0"/>
                </a:solidFill>
                <a:latin typeface="Aptos"/>
              </a:defRPr>
            </a:pPr>
            <a:r>
              <a:t>Browser :3000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8288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011680"/>
            <a:ext cx="114300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052828"/>
            <a:ext cx="10881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59736"/>
            <a:ext cx="3054096" cy="51206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300" b="1">
                <a:solidFill>
                  <a:srgbClr val="102A43"/>
                </a:solidFill>
                <a:latin typeface="Aptos"/>
              </a:defRPr>
            </a:pPr>
            <a:r>
              <a:t>FastAPI ? SQLAlchemy ?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27248"/>
            <a:ext cx="3044952" cy="96012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60" b="0">
                <a:solidFill>
                  <a:srgbClr val="20334A"/>
                </a:solidFill>
                <a:latin typeface="Aptos"/>
              </a:defRPr>
            </a:pPr>
            <a:r>
              <a:t>Validates requests and user roles; applies product, cart, checkout, and order rules. ORM sends queries.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4818888"/>
            <a:ext cx="3090672" cy="365760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4910328"/>
            <a:ext cx="2944368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50" b="1">
                <a:solidFill>
                  <a:srgbClr val="2864DC"/>
                </a:solidFill>
                <a:latin typeface="Aptos"/>
              </a:defRPr>
            </a:pPr>
            <a:r>
              <a:t>REST API :8000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182880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7" y="2011680"/>
            <a:ext cx="1143000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2052828"/>
            <a:ext cx="108813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459736"/>
            <a:ext cx="3054096" cy="51206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300" b="1">
                <a:solidFill>
                  <a:srgbClr val="102A43"/>
                </a:solidFill>
                <a:latin typeface="Aptos"/>
              </a:defRPr>
            </a:pPr>
            <a:r>
              <a:t>PostgreSQL ? Alembic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127248"/>
            <a:ext cx="3044952" cy="96012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60" b="0">
                <a:solidFill>
                  <a:srgbClr val="20334A"/>
                </a:solidFill>
                <a:latin typeface="Aptos"/>
              </a:defRPr>
            </a:pPr>
            <a:r>
              <a:t>Persists users, products, carts, addresses, orders, order lines, and payments. Alembic versions schema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11896" y="4818888"/>
            <a:ext cx="3090672" cy="365760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4910328"/>
            <a:ext cx="2944368" cy="15544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50" b="1">
                <a:solidFill>
                  <a:srgbClr val="2D9B78"/>
                </a:solidFill>
                <a:latin typeface="Aptos"/>
              </a:defRPr>
            </a:pPr>
            <a:r>
              <a:t>NEXORA_db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59936" y="3611880"/>
            <a:ext cx="292608" cy="0"/>
          </a:xfrm>
          <a:prstGeom prst="line">
            <a:avLst/>
          </a:prstGeom>
          <a:ln w="2540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27264" y="3611880"/>
            <a:ext cx="292608" cy="0"/>
          </a:xfrm>
          <a:prstGeom prst="line">
            <a:avLst/>
          </a:prstGeom>
          <a:ln w="25400">
            <a:solidFill>
              <a:srgbClr val="2D9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" y="5623560"/>
            <a:ext cx="10287000" cy="438912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C3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733288"/>
            <a:ext cx="10012680" cy="18288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950" b="1">
                <a:solidFill>
                  <a:srgbClr val="16324F"/>
                </a:solidFill>
                <a:latin typeface="Aptos"/>
              </a:defRPr>
            </a:pPr>
            <a:r>
              <a:t>Browser action ? REST API ? validation / business rules ? SQLAlchemy query ? PostgreSQL ? response updates the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Product search, filtering, and pagination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The API supports text, category, min/max price, sorting, and page parameters.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794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9384"/>
            <a:ext cx="33375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50" b="1">
                <a:solidFill>
                  <a:srgbClr val="2864DC"/>
                </a:solidFill>
                <a:latin typeface="Aptos"/>
              </a:defRPr>
            </a:pPr>
            <a:r>
              <a:t>REQUEST TO PRODUCT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2276856"/>
            <a:ext cx="3310128" cy="1133856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368296"/>
            <a:ext cx="3081528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GET /products?q=phone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2508961"/>
            <a:ext cx="3081528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&amp;category=electronics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649626"/>
            <a:ext cx="3081528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&amp;min_price=500&amp;max_price=1500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790291"/>
            <a:ext cx="3081528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&amp;sort=price_desc&amp;page=1&amp;size=10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75304"/>
            <a:ext cx="329184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102A43"/>
                </a:solidFill>
                <a:latin typeface="Aptos"/>
              </a:defRPr>
            </a:pPr>
            <a:r>
              <a:t>What each filter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904487"/>
            <a:ext cx="3182112" cy="24688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30" b="0">
                <a:solidFill>
                  <a:srgbClr val="20334A"/>
                </a:solidFill>
                <a:latin typeface="Aptos"/>
              </a:defRPr>
            </a:pPr>
            <a:r>
              <a:t>? q searches name or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261103"/>
            <a:ext cx="3182112" cy="24688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30" b="0">
                <a:solidFill>
                  <a:srgbClr val="20334A"/>
                </a:solidFill>
                <a:latin typeface="Aptos"/>
              </a:defRPr>
            </a:pPr>
            <a:r>
              <a:t>? category matches one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17720"/>
            <a:ext cx="3182112" cy="24688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30" b="0">
                <a:solidFill>
                  <a:srgbClr val="20334A"/>
                </a:solidFill>
                <a:latin typeface="Aptos"/>
              </a:defRPr>
            </a:pPr>
            <a:r>
              <a:t>? min_price / max_price bound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974336"/>
            <a:ext cx="3182112" cy="24688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30" b="0">
                <a:solidFill>
                  <a:srgbClr val="20334A"/>
                </a:solidFill>
                <a:latin typeface="Aptos"/>
              </a:defRPr>
            </a:pPr>
            <a:r>
              <a:t>? sort supports name / price_asc / price_desc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330952"/>
            <a:ext cx="3182112" cy="24688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30" b="0">
                <a:solidFill>
                  <a:srgbClr val="20334A"/>
                </a:solidFill>
                <a:latin typeface="Aptos"/>
              </a:defRPr>
            </a:pPr>
            <a:r>
              <a:t>? page + size select a result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1691640"/>
            <a:ext cx="69311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929384"/>
            <a:ext cx="63093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50" b="1">
                <a:solidFill>
                  <a:srgbClr val="2864DC"/>
                </a:solidFill>
                <a:latin typeface="Aptos"/>
              </a:defRPr>
            </a:pPr>
            <a:r>
              <a:t>EQUIVALENT POSTGRESQL 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276856"/>
            <a:ext cx="6400800" cy="21031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2368296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SELECT pid, name, category, price,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519781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2671267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WHERE (name ILIKE '%phone%' OR description ILIKE '%phone%')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2822752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  AND category = 'electronics'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2974238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  AND price BETWEEN 500 AND 1500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3125724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ORDER BY price DESC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277209"/>
            <a:ext cx="6172200" cy="18806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40" b="0">
                <a:solidFill>
                  <a:srgbClr val="16324F"/>
                </a:solidFill>
                <a:latin typeface="Consolas"/>
              </a:defRPr>
            </a:pPr>
            <a:r>
              <a:t>LIMIT 10 OFFSET 0;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590288"/>
            <a:ext cx="6355080" cy="117043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ILIKE is PostgreSQL case-insensitive matching. OFFSET = (page - 1) ? size, so page 2 at size 10 starts at offset 10. API responses include a computed 20% festival price; it is not a stored products column.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CRUD using the real products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Product POST, GET, PUT, and DELETE routes are implemented; write access requires admin permission.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7667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865376"/>
            <a:ext cx="107899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906524"/>
            <a:ext cx="102412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01952"/>
            <a:ext cx="3749039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POST /products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258568"/>
            <a:ext cx="5065776" cy="126187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350008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INSERT INTO products (name, description, category, price, stock)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490673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VALUES ('USB-C Charger', 'Fast charger', 'electronics', 24.99, 35)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631338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RETURNING pid;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19072"/>
            <a:ext cx="537667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865376"/>
            <a:ext cx="107899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906524"/>
            <a:ext cx="102412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901952"/>
            <a:ext cx="3749039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GET /products/16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2258568"/>
            <a:ext cx="5065776" cy="126187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350008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SELECT pid, name, price,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490673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2631338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WHERE pid = 16;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49624"/>
            <a:ext cx="537667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" y="3995928"/>
            <a:ext cx="107899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037076"/>
            <a:ext cx="102412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032504"/>
            <a:ext cx="3749039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PUT /products/16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4389120"/>
            <a:ext cx="5065776" cy="126187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480559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UPDATE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621225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SET price = 19.99, stock = 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761890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WHERE pid = 16;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49624"/>
            <a:ext cx="537667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64224" y="3995928"/>
            <a:ext cx="107899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4037076"/>
            <a:ext cx="102412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032504"/>
            <a:ext cx="3749039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DELETE /products/16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4389120"/>
            <a:ext cx="5065776" cy="126187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4480559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DELETE FROM products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4621225"/>
            <a:ext cx="4837176" cy="17724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Consolas"/>
              </a:defRPr>
            </a:pPr>
            <a:r>
              <a:t>WHERE pid = 16;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6053328"/>
            <a:ext cx="10927080" cy="210312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89904"/>
            <a:ext cx="10607040" cy="11887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1">
                <a:solidFill>
                  <a:srgbClr val="16324F"/>
                </a:solidFill>
                <a:latin typeface="Aptos"/>
              </a:defRPr>
            </a:pPr>
            <a:r>
              <a:t>Use WHERE for targeted updates/deletes. The backend also validates values, stock, and role permissions.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Checkout and order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The backend validates stock and records linked order data for accurate history.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BUSINESS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984248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139696"/>
            <a:ext cx="34747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80844"/>
            <a:ext cx="292608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78608"/>
            <a:ext cx="1737360" cy="32918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50" b="1">
                <a:solidFill>
                  <a:srgbClr val="102A43"/>
                </a:solidFill>
                <a:latin typeface="Aptos"/>
              </a:defRPr>
            </a:pPr>
            <a:r>
              <a:t>Choose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728216" cy="80467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20334A"/>
                </a:solidFill>
                <a:latin typeface="Aptos"/>
              </a:defRPr>
            </a:pPr>
            <a:r>
              <a:t>Unique product IDs + positive quantities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33472" y="3035808"/>
            <a:ext cx="192024" cy="0"/>
          </a:xfrm>
          <a:prstGeom prst="line">
            <a:avLst/>
          </a:prstGeom>
          <a:ln w="25400">
            <a:solidFill>
              <a:srgbClr val="2A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1965960"/>
            <a:ext cx="1984248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08376" y="2139696"/>
            <a:ext cx="34747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180844"/>
            <a:ext cx="292608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578608"/>
            <a:ext cx="1737360" cy="32918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50" b="1">
                <a:solidFill>
                  <a:srgbClr val="102A43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026664"/>
            <a:ext cx="1728216" cy="80467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20334A"/>
                </a:solidFill>
                <a:latin typeface="Aptos"/>
              </a:defRPr>
            </a:pPr>
            <a:r>
              <a:t>Product exists; stock is enough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3035808"/>
            <a:ext cx="192024" cy="0"/>
          </a:xfrm>
          <a:prstGeom prst="line">
            <a:avLst/>
          </a:prstGeom>
          <a:ln w="25400">
            <a:solidFill>
              <a:srgbClr val="2A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0640" y="1965960"/>
            <a:ext cx="1984248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48656" y="2139696"/>
            <a:ext cx="34747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2180844"/>
            <a:ext cx="292608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578608"/>
            <a:ext cx="1737360" cy="32918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50" b="1">
                <a:solidFill>
                  <a:srgbClr val="102A43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026664"/>
            <a:ext cx="1728216" cy="80467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20334A"/>
                </a:solidFill>
                <a:latin typeface="Aptos"/>
              </a:defRPr>
            </a:pPr>
            <a:r>
              <a:t>20% discount; $7.95 shipping if subtotal &lt; 100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14032" y="3035808"/>
            <a:ext cx="192024" cy="0"/>
          </a:xfrm>
          <a:prstGeom prst="line">
            <a:avLst/>
          </a:prstGeom>
          <a:ln w="25400">
            <a:solidFill>
              <a:srgbClr val="2A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60920" y="1965960"/>
            <a:ext cx="1984248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8936" y="2139696"/>
            <a:ext cx="34747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2180844"/>
            <a:ext cx="292608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578608"/>
            <a:ext cx="1737360" cy="32918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50" b="1">
                <a:solidFill>
                  <a:srgbClr val="102A43"/>
                </a:solidFill>
                <a:latin typeface="Aptos"/>
              </a:defRPr>
            </a:pPr>
            <a:r>
              <a:t>Create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026664"/>
            <a:ext cx="1728216" cy="80467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20334A"/>
                </a:solidFill>
                <a:latin typeface="Aptos"/>
              </a:defRPr>
            </a:pPr>
            <a:r>
              <a:t>Order + line snapshots + pending COD payment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54312" y="3035808"/>
            <a:ext cx="192024" cy="0"/>
          </a:xfrm>
          <a:prstGeom prst="line">
            <a:avLst/>
          </a:prstGeom>
          <a:ln w="25400">
            <a:solidFill>
              <a:srgbClr val="2A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01200" y="1965960"/>
            <a:ext cx="1984248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29216" y="2139696"/>
            <a:ext cx="347472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2180844"/>
            <a:ext cx="292608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2578608"/>
            <a:ext cx="1737360" cy="32918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50" b="1">
                <a:solidFill>
                  <a:srgbClr val="102A43"/>
                </a:solidFill>
                <a:latin typeface="Aptos"/>
              </a:defRPr>
            </a:pPr>
            <a:r>
              <a:t>Fulfil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3026664"/>
            <a:ext cx="1728216" cy="80467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20334A"/>
                </a:solidFill>
                <a:latin typeface="Aptos"/>
              </a:defRPr>
            </a:pPr>
            <a:r>
              <a:t>placed ? packed ? shipped ? delivered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453128"/>
            <a:ext cx="5358384" cy="1426464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663440"/>
            <a:ext cx="4919472" cy="18288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PURCHASE-TIME SNAPSHOTS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4956048"/>
            <a:ext cx="4919472" cy="6858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order_items saves product_name and price at purchase time. orders also copies delivery details so profile edits do not rewrite past order records.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453128"/>
            <a:ext cx="5349240" cy="1426464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C3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663440"/>
            <a:ext cx="4901184" cy="18288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D9B78"/>
                </a:solidFill>
                <a:latin typeface="Aptos"/>
              </a:defRPr>
            </a:pPr>
            <a:r>
              <a:t>CANCELLATION AND PAYMENT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956048"/>
            <a:ext cx="4892040" cy="6858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Cancellation restores inventory. When an order is delivered, its cash-on-delivery payment changes from pending to paid. Invalid status transitions are rejected.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Aggregate functions and admin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Admin statistics include paid revenue, orders, customer count, products, low stock, and top sellers.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6419088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5870448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50" b="1">
                <a:solidFill>
                  <a:srgbClr val="2864DC"/>
                </a:solidFill>
                <a:latin typeface="Aptos"/>
              </a:defRPr>
            </a:pPr>
            <a:r>
              <a:t>TOP 5 PRODUCTS BY UNITS SOLD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2267712"/>
            <a:ext cx="5925312" cy="162763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359152"/>
            <a:ext cx="5696712" cy="189865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16324F"/>
                </a:solidFill>
                <a:latin typeface="Consolas"/>
              </a:defRPr>
            </a:pPr>
            <a:r>
              <a:t>SELECT product_name, SUM(quantity) AS units_sold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2512441"/>
            <a:ext cx="5696712" cy="189865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16324F"/>
                </a:solidFill>
                <a:latin typeface="Consolas"/>
              </a:defRPr>
            </a:pPr>
            <a:r>
              <a:t>FROM order_items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665730"/>
            <a:ext cx="5696712" cy="189865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16324F"/>
                </a:solidFill>
                <a:latin typeface="Consolas"/>
              </a:defRPr>
            </a:pPr>
            <a:r>
              <a:t>GROUP BY product_name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819019"/>
            <a:ext cx="5696712" cy="189865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16324F"/>
                </a:solidFill>
                <a:latin typeface="Consolas"/>
              </a:defRPr>
            </a:pPr>
            <a:r>
              <a:t>ORDER BY units_sold DESC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2972308"/>
            <a:ext cx="5696712" cy="189865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50" b="0">
                <a:solidFill>
                  <a:srgbClr val="16324F"/>
                </a:solidFill>
                <a:latin typeface="Consolas"/>
              </a:defRPr>
            </a:pPr>
            <a:r>
              <a:t>LIMIT 5;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33087"/>
            <a:ext cx="589788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102A43"/>
                </a:solidFill>
                <a:latin typeface="Aptos"/>
              </a:defRPr>
            </a:pPr>
            <a:r>
              <a:t>CATEGORY SUMMARY WITH HAVING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4462272"/>
            <a:ext cx="5925312" cy="116128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4553712"/>
            <a:ext cx="5696712" cy="17363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SELECT category, COUNT(*) AS products, AVG(price) AS avg_price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4690770"/>
            <a:ext cx="5696712" cy="17363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FROM products GROUP BY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827828"/>
            <a:ext cx="5696712" cy="17363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HAVING COUNT(*) &gt;= 2;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691640"/>
            <a:ext cx="430682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920240"/>
            <a:ext cx="37947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50" b="1">
                <a:solidFill>
                  <a:srgbClr val="2D9B78"/>
                </a:solidFill>
                <a:latin typeface="Aptos"/>
              </a:defRPr>
            </a:pPr>
            <a:r>
              <a:t>AGGREGATES AND MEANING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295144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1" y="2336291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COUNT(*)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340864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rows / orders / customers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779776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1" y="2820924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SUM(quantity)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825496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264408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1" y="3305556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SUM(amount)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310128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paid revenue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3749039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1" y="3790187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AVG(price)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794760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average price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4233672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1" y="4274820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MIN /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279392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price range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4718304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1" y="4759452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GROUP 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764024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one result per group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5202936"/>
            <a:ext cx="1261872" cy="265176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25511" y="5244083"/>
            <a:ext cx="1207007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HAVING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5248656"/>
            <a:ext cx="233172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filter aggregate groups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4297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2300" b="1">
                <a:solidFill>
                  <a:srgbClr val="102A43"/>
                </a:solidFill>
                <a:latin typeface="Aptos"/>
              </a:defRPr>
            </a:pPr>
            <a:r>
              <a:t>Joining customers, orders, products, and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2286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1000" b="0">
                <a:solidFill>
                  <a:srgbClr val="61758A"/>
                </a:solidFill>
                <a:latin typeface="Aptos"/>
              </a:defRPr>
            </a:pPr>
            <a:r>
              <a:t>Join conditions below use the project?s actual foreign-key columns.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889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6419088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5852160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50" b="1">
                <a:solidFill>
                  <a:srgbClr val="2864DC"/>
                </a:solidFill>
                <a:latin typeface="Aptos"/>
              </a:defRPr>
            </a:pPr>
            <a:r>
              <a:t>CUSTOMER ? ORDER ? ORDER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2267712"/>
            <a:ext cx="5925312" cy="20116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359152"/>
            <a:ext cx="5696712" cy="18265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16324F"/>
                </a:solidFill>
                <a:latin typeface="Consolas"/>
              </a:defRPr>
            </a:pPr>
            <a:r>
              <a:t>SELECT u.name, o.oid, o.status,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2505227"/>
            <a:ext cx="5696712" cy="18265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16324F"/>
                </a:solidFill>
                <a:latin typeface="Consolas"/>
              </a:defRPr>
            </a:pPr>
            <a:r>
              <a:t>       oi.product_name, oi.quantity, oi.price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651302"/>
            <a:ext cx="5696712" cy="18265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16324F"/>
                </a:solidFill>
                <a:latin typeface="Consolas"/>
              </a:defRPr>
            </a:pPr>
            <a:r>
              <a:t>FROM users 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797378"/>
            <a:ext cx="5696712" cy="18265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16324F"/>
                </a:solidFill>
                <a:latin typeface="Consolas"/>
              </a:defRPr>
            </a:pPr>
            <a:r>
              <a:t>INNER JOIN orders o ON o.user_uid = u.uid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2943453"/>
            <a:ext cx="5696712" cy="18265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16324F"/>
                </a:solidFill>
                <a:latin typeface="Consolas"/>
              </a:defRPr>
            </a:pPr>
            <a:r>
              <a:t>INNER JOIN order_items oi ON oi.order_oid = o.oid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3089529"/>
            <a:ext cx="5696712" cy="182651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0" b="0">
                <a:solidFill>
                  <a:srgbClr val="16324F"/>
                </a:solidFill>
                <a:latin typeface="Consolas"/>
              </a:defRPr>
            </a:pPr>
            <a:r>
              <a:t>ORDER BY o.created_at DESC;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26280"/>
            <a:ext cx="5897880" cy="1143000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To include optional payment data: LEFT JOIN payments p ON p.order_oid = o.oid. This keeps an order in results even if its payment record is absent.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91640"/>
            <a:ext cx="430682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920240"/>
            <a:ext cx="3749039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950" b="1">
                <a:solidFill>
                  <a:srgbClr val="2D9B78"/>
                </a:solidFill>
                <a:latin typeface="Aptos"/>
              </a:defRPr>
            </a:pPr>
            <a:r>
              <a:t>JOIN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304288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1" y="2345436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359152"/>
            <a:ext cx="2139696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9" b="0">
                <a:solidFill>
                  <a:srgbClr val="20334A"/>
                </a:solidFill>
                <a:latin typeface="Aptos"/>
              </a:defRPr>
            </a:pPr>
            <a:r>
              <a:t>only matching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816352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1" y="2857500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871216"/>
            <a:ext cx="2139696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9" b="0">
                <a:solidFill>
                  <a:srgbClr val="20334A"/>
                </a:solidFill>
                <a:latin typeface="Aptos"/>
              </a:defRPr>
            </a:pPr>
            <a:r>
              <a:t>keep all left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328416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1" y="3369564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383280"/>
            <a:ext cx="2139696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9" b="0">
                <a:solidFill>
                  <a:srgbClr val="20334A"/>
                </a:solidFill>
                <a:latin typeface="Aptos"/>
              </a:defRPr>
            </a:pPr>
            <a:r>
              <a:t>keep all right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840480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1" y="3881628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FULL 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895344"/>
            <a:ext cx="2139696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9" b="0">
                <a:solidFill>
                  <a:srgbClr val="20334A"/>
                </a:solidFill>
                <a:latin typeface="Aptos"/>
              </a:defRPr>
            </a:pPr>
            <a:r>
              <a:t>keep rows from both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352544"/>
            <a:ext cx="1417320" cy="26517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1" y="4393692"/>
            <a:ext cx="1362456" cy="164592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407408"/>
            <a:ext cx="2139696" cy="201168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819" b="0">
                <a:solidFill>
                  <a:srgbClr val="20334A"/>
                </a:solidFill>
                <a:latin typeface="Aptos"/>
              </a:defRPr>
            </a:pPr>
            <a:r>
              <a:t>one table joined to itself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5047488"/>
            <a:ext cx="3767328" cy="758952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6096" y="5148072"/>
            <a:ext cx="3511296" cy="512064"/>
          </a:xfrm>
          <a:prstGeom prst="rect">
            <a:avLst/>
          </a:prstGeom>
          <a:noFill/>
        </p:spPr>
        <p:txBody>
          <a:bodyPr wrap="square" lIns="45720" rIns="45720" tIns="22860" bIns="18288">
            <a:spAutoFit/>
          </a:bodyPr>
          <a:lstStyle/>
          <a:p>
            <a:pPr>
              <a:defRPr sz="780" b="0">
                <a:solidFill>
                  <a:srgbClr val="16324F"/>
                </a:solidFill>
                <a:latin typeface="Aptos"/>
              </a:defRPr>
            </a:pPr>
            <a:r>
              <a:t>No table currently references itself, so SELF JOIN is a general SQL concept?not a current project relationship.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