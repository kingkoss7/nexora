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64" r:id="rId15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966960" y="-548640"/>
            <a:ext cx="3108960" cy="3108960"/>
          </a:xfrm>
          <a:prstGeom prst="roundRect">
            <a:avLst/>
          </a:prstGeom>
          <a:solidFill>
            <a:srgbClr val="1B47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89920" y="5943600"/>
            <a:ext cx="2560320" cy="2560320"/>
          </a:xfrm>
          <a:prstGeom prst="roundRect">
            <a:avLst/>
          </a:prstGeom>
          <a:solidFill>
            <a:srgbClr val="2164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868680"/>
            <a:ext cx="1508760" cy="274320"/>
          </a:xfrm>
          <a:prstGeom prst="roundRect">
            <a:avLst/>
          </a:prstGeom>
          <a:solidFill>
            <a:srgbClr val="2AB3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900684"/>
            <a:ext cx="1435607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DATABASE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6766560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"/>
              </a:defRPr>
            </a:pPr>
            <a:r>
              <a:t>E-commerce Store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95728"/>
            <a:ext cx="6766560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"/>
              </a:defRPr>
            </a:pPr>
            <a:r>
              <a:t>Database &amp; SQL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3154680"/>
            <a:ext cx="5852160" cy="8686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400" b="0">
                <a:solidFill>
                  <a:srgbClr val="D6E5F5"/>
                </a:solidFill>
                <a:latin typeface="Aptos"/>
              </a:defRPr>
            </a:pPr>
            <a:r>
              <a:t>A presentation of the project interface, frontend and backend, database design, ERD, and SQL operations.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2011680"/>
            <a:ext cx="2514600" cy="2331720"/>
          </a:xfrm>
          <a:prstGeom prst="roundRect">
            <a:avLst/>
          </a:prstGeom>
          <a:solidFill>
            <a:srgbClr val="1A3D5E"/>
          </a:solidFill>
          <a:ln w="12700">
            <a:solidFill>
              <a:srgbClr val="456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595360" y="2340864"/>
            <a:ext cx="210312" cy="210312"/>
          </a:xfrm>
          <a:prstGeom prst="roundRect">
            <a:avLst/>
          </a:prstGeom>
          <a:solidFill>
            <a:srgbClr val="2AB3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79408" y="2331720"/>
            <a:ext cx="155448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ptos"/>
              </a:defRPr>
            </a:pPr>
            <a:r>
              <a:t>FRONTEND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95360" y="2971800"/>
            <a:ext cx="210312" cy="210312"/>
          </a:xfrm>
          <a:prstGeom prst="roundRect">
            <a:avLst/>
          </a:prstGeom>
          <a:solidFill>
            <a:srgbClr val="286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79408" y="2962656"/>
            <a:ext cx="155448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ptos"/>
              </a:defRPr>
            </a:pPr>
            <a:r>
              <a:t>BACKEND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95360" y="3602736"/>
            <a:ext cx="210312" cy="210312"/>
          </a:xfrm>
          <a:prstGeom prst="roundRect">
            <a:avLst/>
          </a:prstGeom>
          <a:solidFill>
            <a:srgbClr val="2D9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79408" y="3593592"/>
            <a:ext cx="155448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ptos"/>
              </a:defRPr>
            </a:pPr>
            <a:r>
              <a:t>DATABASE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705088" y="2633472"/>
            <a:ext cx="0" cy="182880"/>
          </a:xfrm>
          <a:prstGeom prst="line">
            <a:avLst/>
          </a:prstGeom>
          <a:ln w="19050">
            <a:solidFill>
              <a:srgbClr val="D6E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705088" y="3264408"/>
            <a:ext cx="0" cy="182880"/>
          </a:xfrm>
          <a:prstGeom prst="line">
            <a:avLst/>
          </a:prstGeom>
          <a:ln w="19050">
            <a:solidFill>
              <a:srgbClr val="D6E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49808" y="6089904"/>
            <a:ext cx="640080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900" b="1">
                <a:solidFill>
                  <a:srgbClr val="D6E5F5"/>
                </a:solidFill>
                <a:latin typeface="Aptos"/>
              </a:defRPr>
            </a:pPr>
            <a:r>
              <a:t>PROJECT PRESENTATION  |  SQL FUNDAMENTALS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82296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1">
                <a:solidFill>
                  <a:srgbClr val="2864DC"/>
                </a:solidFill>
                <a:latin typeface="Aptos"/>
              </a:defRPr>
            </a:pPr>
            <a:r>
              <a:t>01 /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86384"/>
            <a:ext cx="10972800" cy="42062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400" b="1">
                <a:solidFill>
                  <a:srgbClr val="102A43"/>
                </a:solidFill>
                <a:latin typeface="Aptos"/>
              </a:defRPr>
            </a:pPr>
            <a:r>
              <a:t>What does the project do?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80160"/>
            <a:ext cx="109728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50" b="0">
                <a:solidFill>
                  <a:srgbClr val="61758A"/>
                </a:solidFill>
                <a:latin typeface="Aptos"/>
              </a:defRPr>
            </a:pPr>
            <a:r>
              <a:t>A real product-detail screen from the running NEXORA marketplace.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755648"/>
            <a:ext cx="3337560" cy="4160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2029968"/>
            <a:ext cx="2816352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2864DC"/>
                </a:solidFill>
                <a:latin typeface="Aptos"/>
              </a:defRPr>
            </a:pPr>
            <a:r>
              <a:t>PROJECT INTERFACE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441448"/>
            <a:ext cx="2816352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1">
                <a:solidFill>
                  <a:srgbClr val="102A43"/>
                </a:solidFill>
                <a:latin typeface="Aptos"/>
              </a:defRPr>
            </a:pPr>
            <a:r>
              <a:t>A marketplace page for viewing a product and placing an order.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3401568"/>
            <a:ext cx="2770632" cy="21031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20334A"/>
                </a:solidFill>
                <a:latin typeface="Aptos"/>
              </a:defRPr>
            </a:pPr>
            <a:r>
              <a:t>The screenshot shows the NEXORA product-detail page, including:</a:t>
            </a:r>
            <a:br/>
            <a:br/>
            <a:r>
              <a:t>? Product image and category</a:t>
            </a:r>
            <a:br/>
            <a:r>
              <a:t>? Name, description, and price</a:t>
            </a:r>
            <a:br/>
            <a:r>
              <a:t>? Stock and quantity controls</a:t>
            </a:r>
            <a:br/>
            <a:r>
              <a:t>? Add to Cart and Buy now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1737360"/>
            <a:ext cx="7424927" cy="41788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nexora_product_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1104" y="1847088"/>
            <a:ext cx="7223760" cy="4059936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02920" y="6373368"/>
            <a:ext cx="11183112" cy="9144"/>
          </a:xfrm>
          <a:prstGeom prst="rect">
            <a:avLst/>
          </a:prstGeom>
          <a:solidFill>
            <a:srgbClr val="D8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01384"/>
            <a:ext cx="914400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800" b="1">
                <a:solidFill>
                  <a:srgbClr val="61758A"/>
                </a:solidFill>
                <a:latin typeface="Aptos"/>
              </a:defRPr>
            </a:pPr>
            <a:r>
              <a:t>PROJECT OVERVIEW AND LIVE INTERFACE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84280" y="6501384"/>
            <a:ext cx="32004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800" b="1">
                <a:solidFill>
                  <a:srgbClr val="61758A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914400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800" b="1">
                <a:solidFill>
                  <a:srgbClr val="61758A"/>
                </a:solidFill>
                <a:latin typeface="Aptos"/>
              </a:defRPr>
            </a:pPr>
            <a:r>
              <a:t>FRONTEND, BACKEND, AND DATABASE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6373368"/>
            <a:ext cx="11183112" cy="0"/>
          </a:xfrm>
          <a:prstGeom prst="line">
            <a:avLst/>
          </a:prstGeom>
          <a:ln w="7620">
            <a:solidFill>
              <a:srgbClr val="D8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384280" y="6501384"/>
            <a:ext cx="32004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defRPr sz="800" b="1">
                <a:solidFill>
                  <a:srgbClr val="61758A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38912"/>
            <a:ext cx="82296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900" b="1">
                <a:solidFill>
                  <a:srgbClr val="2864DC"/>
                </a:solidFill>
                <a:latin typeface="Aptos"/>
              </a:defRPr>
            </a:pPr>
            <a:r>
              <a:t>02 / HOW IT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786384"/>
            <a:ext cx="10972800" cy="42062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2400" b="1">
                <a:solidFill>
                  <a:srgbClr val="102A43"/>
                </a:solidFill>
                <a:latin typeface="Aptos"/>
              </a:defRPr>
            </a:pPr>
            <a:r>
              <a:t>Three layers work together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280160"/>
            <a:ext cx="1097280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050" b="0">
                <a:solidFill>
                  <a:srgbClr val="61758A"/>
                </a:solidFill>
                <a:latin typeface="Aptos"/>
              </a:defRPr>
            </a:pPr>
            <a:r>
              <a:t>A clear separation makes the application easier to build and maintain.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74519"/>
            <a:ext cx="3364992" cy="34015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" y="1874519"/>
            <a:ext cx="3364992" cy="457200"/>
          </a:xfrm>
          <a:prstGeom prst="roundRect">
            <a:avLst/>
          </a:prstGeom>
          <a:solidFill>
            <a:srgbClr val="2AB3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84248"/>
            <a:ext cx="292608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Aptos"/>
              </a:defRPr>
            </a:pPr>
            <a:r>
              <a:t>01  FRONTEND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542032"/>
            <a:ext cx="2880360" cy="6400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400" b="1">
                <a:solidFill>
                  <a:srgbClr val="102A43"/>
                </a:solidFill>
                <a:latin typeface="Aptos"/>
              </a:defRPr>
            </a:pPr>
            <a:r>
              <a:t>The user-facing interface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3337560"/>
            <a:ext cx="2852928" cy="9144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050" b="0">
                <a:solidFill>
                  <a:srgbClr val="20334A"/>
                </a:solidFill>
                <a:latin typeface="Aptos"/>
              </a:defRPr>
            </a:pPr>
            <a:r>
              <a:t>Shows products, filters, cart, and order details. Sends requests to the backend.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4736592"/>
            <a:ext cx="2999232" cy="384048"/>
          </a:xfrm>
          <a:prstGeom prst="round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828032"/>
            <a:ext cx="2907792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defRPr sz="850" b="1">
                <a:solidFill>
                  <a:srgbClr val="2AB3C0"/>
                </a:solidFill>
                <a:latin typeface="Aptos"/>
              </a:defRPr>
            </a:pPr>
            <a:r>
              <a:t>HTML | CSS | JavaScript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07408" y="1874519"/>
            <a:ext cx="3364992" cy="34015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407408" y="1874519"/>
            <a:ext cx="3364992" cy="457200"/>
          </a:xfrm>
          <a:prstGeom prst="roundRect">
            <a:avLst/>
          </a:prstGeom>
          <a:solidFill>
            <a:srgbClr val="286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26864" y="1984248"/>
            <a:ext cx="292608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Aptos"/>
              </a:defRPr>
            </a:pPr>
            <a:r>
              <a:t>02  BACKEND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26864" y="2542032"/>
            <a:ext cx="2880360" cy="6400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400" b="1">
                <a:solidFill>
                  <a:srgbClr val="102A43"/>
                </a:solidFill>
                <a:latin typeface="Aptos"/>
              </a:defRPr>
            </a:pPr>
            <a:r>
              <a:t>The application logic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26864" y="3337560"/>
            <a:ext cx="2852928" cy="9144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050" b="0">
                <a:solidFill>
                  <a:srgbClr val="20334A"/>
                </a:solidFill>
                <a:latin typeface="Aptos"/>
              </a:defRPr>
            </a:pPr>
            <a:r>
              <a:t>Receives requests, validates input, applies business rules, and runs database queries.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90288" y="4736592"/>
            <a:ext cx="2999232" cy="384048"/>
          </a:xfrm>
          <a:prstGeom prst="round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36008" y="4828032"/>
            <a:ext cx="2907792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defRPr sz="850" b="1">
                <a:solidFill>
                  <a:srgbClr val="2864DC"/>
                </a:solidFill>
                <a:latin typeface="Aptos"/>
              </a:defRPr>
            </a:pPr>
            <a:r>
              <a:t>API | validation | SQL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29016" y="1874519"/>
            <a:ext cx="3364992" cy="34015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129016" y="1874519"/>
            <a:ext cx="3364992" cy="457200"/>
          </a:xfrm>
          <a:prstGeom prst="roundRect">
            <a:avLst/>
          </a:prstGeom>
          <a:solidFill>
            <a:srgbClr val="2D9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48472" y="1984248"/>
            <a:ext cx="292608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Aptos"/>
              </a:defRPr>
            </a:pPr>
            <a:r>
              <a:t>03  DATABASE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48472" y="2542032"/>
            <a:ext cx="2880360" cy="6400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400" b="1">
                <a:solidFill>
                  <a:srgbClr val="102A43"/>
                </a:solidFill>
                <a:latin typeface="Aptos"/>
              </a:defRPr>
            </a:pPr>
            <a:r>
              <a:t>The persistent data store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48472" y="3337560"/>
            <a:ext cx="2852928" cy="9144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050" b="0">
                <a:solidFill>
                  <a:srgbClr val="20334A"/>
                </a:solidFill>
                <a:latin typeface="Aptos"/>
              </a:defRPr>
            </a:pPr>
            <a:r>
              <a:t>Stores products, categories, customers, orders, and order items in related tables.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11896" y="4736592"/>
            <a:ext cx="2999232" cy="384048"/>
          </a:xfrm>
          <a:prstGeom prst="round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57616" y="4828032"/>
            <a:ext cx="2907792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defRPr sz="850" b="1">
                <a:solidFill>
                  <a:srgbClr val="2D9B78"/>
                </a:solidFill>
                <a:latin typeface="Aptos"/>
              </a:defRPr>
            </a:pPr>
            <a:r>
              <a:t>tables | keys | relations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114800" y="3611880"/>
            <a:ext cx="237744" cy="0"/>
          </a:xfrm>
          <a:prstGeom prst="line">
            <a:avLst/>
          </a:prstGeom>
          <a:ln w="19050">
            <a:solidFill>
              <a:srgbClr val="286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836408" y="3611880"/>
            <a:ext cx="237744" cy="0"/>
          </a:xfrm>
          <a:prstGeom prst="line">
            <a:avLst/>
          </a:prstGeom>
          <a:ln w="19050">
            <a:solidFill>
              <a:srgbClr val="286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1078992" y="5486400"/>
            <a:ext cx="10012680" cy="457200"/>
          </a:xfrm>
          <a:prstGeom prst="roundRect">
            <a:avLst/>
          </a:prstGeom>
          <a:solidFill>
            <a:srgbClr val="E7F4F5"/>
          </a:solidFill>
          <a:ln w="12700">
            <a:solidFill>
              <a:srgbClr val="C3E7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88720" y="5605272"/>
            <a:ext cx="978408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defRPr sz="1000" b="1">
                <a:solidFill>
                  <a:srgbClr val="16324F"/>
                </a:solidFill>
                <a:latin typeface="Aptos"/>
              </a:defRPr>
            </a:pPr>
            <a:r>
              <a:t>User action  -&gt;  frontend request  -&gt;  backend processing  -&gt;  database query  -&gt;  results displayed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914400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800" b="1">
                <a:solidFill>
                  <a:srgbClr val="61758A"/>
                </a:solidFill>
                <a:latin typeface="Aptos"/>
              </a:defRPr>
            </a:pPr>
            <a:r>
              <a:t>DATABASE TABLES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6373368"/>
            <a:ext cx="11183112" cy="0"/>
          </a:xfrm>
          <a:prstGeom prst="line">
            <a:avLst/>
          </a:prstGeom>
          <a:ln w="7620">
            <a:solidFill>
              <a:srgbClr val="D8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384280" y="6501384"/>
            <a:ext cx="32004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defRPr sz="800" b="1">
                <a:solidFill>
                  <a:srgbClr val="61758A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38912"/>
            <a:ext cx="82296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900" b="1">
                <a:solidFill>
                  <a:srgbClr val="2864DC"/>
                </a:solidFill>
                <a:latin typeface="Aptos"/>
              </a:defRPr>
            </a:pPr>
            <a:r>
              <a:t>03 / DATABASE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786384"/>
            <a:ext cx="10972800" cy="42062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2400" b="1">
                <a:solidFill>
                  <a:srgbClr val="102A43"/>
                </a:solidFill>
                <a:latin typeface="Aptos"/>
              </a:defRPr>
            </a:pPr>
            <a:r>
              <a:t>Tables keep information organized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280160"/>
            <a:ext cx="1097280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050" b="0">
                <a:solidFill>
                  <a:srgbClr val="61758A"/>
                </a:solidFill>
                <a:latin typeface="Aptos"/>
              </a:defRPr>
            </a:pPr>
            <a:r>
              <a:t>Primary keys identify rows; foreign keys connect related records.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965960"/>
            <a:ext cx="3383280" cy="16642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94360" y="1965960"/>
            <a:ext cx="3383280" cy="402336"/>
          </a:xfrm>
          <a:prstGeom prst="roundRect">
            <a:avLst/>
          </a:prstGeom>
          <a:solidFill>
            <a:srgbClr val="286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2066543"/>
            <a:ext cx="301752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Aptos"/>
              </a:defRPr>
            </a:pPr>
            <a:r>
              <a:t>CUSTOMERS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2487168"/>
            <a:ext cx="301752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850" b="1">
                <a:solidFill>
                  <a:srgbClr val="2864DC"/>
                </a:solidFill>
                <a:latin typeface="Aptos"/>
              </a:defRPr>
            </a:pPr>
            <a:r>
              <a:t>PK customer_id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2752344"/>
            <a:ext cx="301752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810" b="0">
                <a:solidFill>
                  <a:srgbClr val="20334A"/>
                </a:solidFill>
                <a:latin typeface="Aptos"/>
              </a:defRPr>
            </a:pPr>
            <a:r>
              <a:t>name | email | phone | city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3072384"/>
            <a:ext cx="301752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800" b="0">
                <a:solidFill>
                  <a:srgbClr val="61758A"/>
                </a:solidFill>
                <a:latin typeface="Aptos"/>
              </a:defRPr>
            </a:pPr>
            <a:r>
              <a:t>One customer can place many orders.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07408" y="1965960"/>
            <a:ext cx="3383280" cy="16642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407408" y="1965960"/>
            <a:ext cx="3383280" cy="402336"/>
          </a:xfrm>
          <a:prstGeom prst="roundRect">
            <a:avLst/>
          </a:prstGeom>
          <a:solidFill>
            <a:srgbClr val="286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2066543"/>
            <a:ext cx="301752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Aptos"/>
              </a:defRPr>
            </a:pPr>
            <a:r>
              <a:t>CATEGORIES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487168"/>
            <a:ext cx="301752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850" b="1">
                <a:solidFill>
                  <a:srgbClr val="2864DC"/>
                </a:solidFill>
                <a:latin typeface="Aptos"/>
              </a:defRPr>
            </a:pPr>
            <a:r>
              <a:t>PK category_id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752344"/>
            <a:ext cx="301752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810" b="0">
                <a:solidFill>
                  <a:srgbClr val="20334A"/>
                </a:solidFill>
                <a:latin typeface="Aptos"/>
              </a:defRPr>
            </a:pPr>
            <a:r>
              <a:t>category_name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072384"/>
            <a:ext cx="301752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800" b="0">
                <a:solidFill>
                  <a:srgbClr val="61758A"/>
                </a:solidFill>
                <a:latin typeface="Aptos"/>
              </a:defRPr>
            </a:pPr>
            <a:r>
              <a:t>One category can contain many products.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0456" y="1965960"/>
            <a:ext cx="3383280" cy="16642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220456" y="1965960"/>
            <a:ext cx="3383280" cy="402336"/>
          </a:xfrm>
          <a:prstGeom prst="roundRect">
            <a:avLst/>
          </a:prstGeom>
          <a:solidFill>
            <a:srgbClr val="286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85048" y="2066543"/>
            <a:ext cx="301752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Aptos"/>
              </a:defRPr>
            </a:pPr>
            <a:r>
              <a:t>PRODUCTS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5048" y="2487168"/>
            <a:ext cx="301752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850" b="1">
                <a:solidFill>
                  <a:srgbClr val="2864DC"/>
                </a:solidFill>
                <a:latin typeface="Aptos"/>
              </a:defRPr>
            </a:pPr>
            <a:r>
              <a:t>PK product_id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85048" y="2752344"/>
            <a:ext cx="301752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810" b="0">
                <a:solidFill>
                  <a:srgbClr val="20334A"/>
                </a:solidFill>
                <a:latin typeface="Aptos"/>
              </a:defRPr>
            </a:pPr>
            <a:r>
              <a:t>FK category_id | name | price | stock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5048" y="3072384"/>
            <a:ext cx="301752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800" b="0">
                <a:solidFill>
                  <a:srgbClr val="61758A"/>
                </a:solidFill>
                <a:latin typeface="Aptos"/>
              </a:defRPr>
            </a:pPr>
            <a:r>
              <a:t>Each product belongs to a category.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487168" y="3977639"/>
            <a:ext cx="3383280" cy="16642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487168" y="3977639"/>
            <a:ext cx="3383280" cy="402336"/>
          </a:xfrm>
          <a:prstGeom prst="roundRect">
            <a:avLst/>
          </a:prstGeom>
          <a:solidFill>
            <a:srgbClr val="286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651760" y="4078224"/>
            <a:ext cx="301752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Aptos"/>
              </a:defRPr>
            </a:pPr>
            <a:r>
              <a:t>ORDERS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51760" y="4498848"/>
            <a:ext cx="301752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850" b="1">
                <a:solidFill>
                  <a:srgbClr val="2864DC"/>
                </a:solidFill>
                <a:latin typeface="Aptos"/>
              </a:defRPr>
            </a:pPr>
            <a:r>
              <a:t>PK order_id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51760" y="4764024"/>
            <a:ext cx="301752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810" b="0">
                <a:solidFill>
                  <a:srgbClr val="20334A"/>
                </a:solidFill>
                <a:latin typeface="Aptos"/>
              </a:defRPr>
            </a:pPr>
            <a:r>
              <a:t>FK customer_id | date | total | status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51760" y="5084064"/>
            <a:ext cx="301752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800" b="0">
                <a:solidFill>
                  <a:srgbClr val="61758A"/>
                </a:solidFill>
                <a:latin typeface="Aptos"/>
              </a:defRPr>
            </a:pPr>
            <a:r>
              <a:t>Each order belongs to one customer.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00216" y="3977639"/>
            <a:ext cx="3383280" cy="16642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300216" y="3977639"/>
            <a:ext cx="3383280" cy="402336"/>
          </a:xfrm>
          <a:prstGeom prst="roundRect">
            <a:avLst/>
          </a:prstGeom>
          <a:solidFill>
            <a:srgbClr val="286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4807" y="4078224"/>
            <a:ext cx="301752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Aptos"/>
              </a:defRPr>
            </a:pPr>
            <a:r>
              <a:t>ORDER_ITEMS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64807" y="4498848"/>
            <a:ext cx="301752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850" b="1">
                <a:solidFill>
                  <a:srgbClr val="2864DC"/>
                </a:solidFill>
                <a:latin typeface="Aptos"/>
              </a:defRPr>
            </a:pPr>
            <a:r>
              <a:t>PK order_item_id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64807" y="4764024"/>
            <a:ext cx="301752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810" b="0">
                <a:solidFill>
                  <a:srgbClr val="20334A"/>
                </a:solidFill>
                <a:latin typeface="Aptos"/>
              </a:defRPr>
            </a:pPr>
            <a:r>
              <a:t>FK order_id | FK product_id | quantity | price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64807" y="5084064"/>
            <a:ext cx="301752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800" b="0">
                <a:solidFill>
                  <a:srgbClr val="61758A"/>
                </a:solidFill>
                <a:latin typeface="Aptos"/>
              </a:defRPr>
            </a:pPr>
            <a:r>
              <a:t>Connects ordered products with orders.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5897880"/>
            <a:ext cx="45720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900" b="1">
                <a:solidFill>
                  <a:srgbClr val="61758A"/>
                </a:solidFill>
                <a:latin typeface="Aptos"/>
              </a:defRPr>
            </a:pPr>
            <a:r>
              <a:t>PK = Primary Key    |    FK = Foreign Key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914400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800" b="1">
                <a:solidFill>
                  <a:srgbClr val="61758A"/>
                </a:solidFill>
                <a:latin typeface="Aptos"/>
              </a:defRPr>
            </a:pPr>
            <a:r>
              <a:t>ENTITY RELATIONSHIP DIAGRAM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6373368"/>
            <a:ext cx="11183112" cy="0"/>
          </a:xfrm>
          <a:prstGeom prst="line">
            <a:avLst/>
          </a:prstGeom>
          <a:ln w="7620">
            <a:solidFill>
              <a:srgbClr val="D8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384280" y="6501384"/>
            <a:ext cx="32004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defRPr sz="800" b="1">
                <a:solidFill>
                  <a:srgbClr val="61758A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38912"/>
            <a:ext cx="82296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900" b="1">
                <a:solidFill>
                  <a:srgbClr val="2864DC"/>
                </a:solidFill>
                <a:latin typeface="Aptos"/>
              </a:defRPr>
            </a:pPr>
            <a:r>
              <a:t>04 / ERD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786384"/>
            <a:ext cx="10972800" cy="42062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2400" b="1">
                <a:solidFill>
                  <a:srgbClr val="102A43"/>
                </a:solidFill>
                <a:latin typeface="Aptos"/>
              </a:defRPr>
            </a:pPr>
            <a:r>
              <a:t>How the tables relate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280160"/>
            <a:ext cx="1097280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050" b="0">
                <a:solidFill>
                  <a:srgbClr val="61758A"/>
                </a:solidFill>
                <a:latin typeface="Aptos"/>
              </a:defRPr>
            </a:pPr>
            <a:r>
              <a:t>OrderItems resolves the many-to-many relationship between orders and products.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200400" y="2651760"/>
            <a:ext cx="457200" cy="0"/>
          </a:xfrm>
          <a:prstGeom prst="line">
            <a:avLst/>
          </a:prstGeom>
          <a:ln w="25400">
            <a:solidFill>
              <a:srgbClr val="286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80760" y="2651760"/>
            <a:ext cx="466344" cy="0"/>
          </a:xfrm>
          <a:prstGeom prst="line">
            <a:avLst/>
          </a:prstGeom>
          <a:ln w="25400">
            <a:solidFill>
              <a:srgbClr val="2AB3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763256" y="3154680"/>
            <a:ext cx="0" cy="1097280"/>
          </a:xfrm>
          <a:prstGeom prst="line">
            <a:avLst/>
          </a:prstGeom>
          <a:ln w="25400">
            <a:solidFill>
              <a:srgbClr val="2D9B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970264" y="4754880"/>
            <a:ext cx="338328" cy="0"/>
          </a:xfrm>
          <a:prstGeom prst="line">
            <a:avLst/>
          </a:prstGeom>
          <a:ln w="25400">
            <a:solidFill>
              <a:srgbClr val="E5A9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" y="2148840"/>
            <a:ext cx="242316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77240" y="2148840"/>
            <a:ext cx="2423160" cy="274320"/>
          </a:xfrm>
          <a:prstGeom prst="roundRect">
            <a:avLst/>
          </a:prstGeom>
          <a:solidFill>
            <a:srgbClr val="286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203704"/>
            <a:ext cx="219456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900" b="1">
                <a:solidFill>
                  <a:srgbClr val="FFFFFF"/>
                </a:solidFill>
                <a:latin typeface="Aptos"/>
              </a:defRPr>
            </a:pPr>
            <a:r>
              <a:t>Customers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542032"/>
            <a:ext cx="219456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740" b="0">
                <a:solidFill>
                  <a:srgbClr val="20334A"/>
                </a:solidFill>
                <a:latin typeface="Aptos"/>
              </a:defRPr>
            </a:pPr>
            <a:r>
              <a:t>PK customer_id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788920"/>
            <a:ext cx="219456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740" b="0">
                <a:solidFill>
                  <a:srgbClr val="20334A"/>
                </a:solidFill>
                <a:latin typeface="Aptos"/>
              </a:defRPr>
            </a:pPr>
            <a:r>
              <a:t>name | email | city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0" y="2148840"/>
            <a:ext cx="242316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657600" y="2148840"/>
            <a:ext cx="2423160" cy="274320"/>
          </a:xfrm>
          <a:prstGeom prst="roundRect">
            <a:avLst/>
          </a:prstGeom>
          <a:solidFill>
            <a:srgbClr val="2AB3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94760" y="2203704"/>
            <a:ext cx="219456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900" b="1">
                <a:solidFill>
                  <a:srgbClr val="FFFFFF"/>
                </a:solidFill>
                <a:latin typeface="Aptos"/>
              </a:defRPr>
            </a:pPr>
            <a:r>
              <a:t>Orders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94760" y="2542032"/>
            <a:ext cx="219456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740" b="0">
                <a:solidFill>
                  <a:srgbClr val="20334A"/>
                </a:solidFill>
                <a:latin typeface="Aptos"/>
              </a:defRPr>
            </a:pPr>
            <a:r>
              <a:t>PK order_id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94760" y="2788920"/>
            <a:ext cx="219456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740" b="0">
                <a:solidFill>
                  <a:srgbClr val="20334A"/>
                </a:solidFill>
                <a:latin typeface="Aptos"/>
              </a:defRPr>
            </a:pPr>
            <a:r>
              <a:t>FK customer_id | date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47104" y="2148840"/>
            <a:ext cx="242316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547104" y="2148840"/>
            <a:ext cx="2423160" cy="274320"/>
          </a:xfrm>
          <a:prstGeom prst="roundRect">
            <a:avLst/>
          </a:prstGeom>
          <a:solidFill>
            <a:srgbClr val="2D9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84264" y="2203704"/>
            <a:ext cx="219456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900" b="1">
                <a:solidFill>
                  <a:srgbClr val="FFFFFF"/>
                </a:solidFill>
                <a:latin typeface="Aptos"/>
              </a:defRPr>
            </a:pPr>
            <a:r>
              <a:t>OrderItems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84264" y="2542032"/>
            <a:ext cx="219456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740" b="0">
                <a:solidFill>
                  <a:srgbClr val="20334A"/>
                </a:solidFill>
                <a:latin typeface="Aptos"/>
              </a:defRPr>
            </a:pPr>
            <a:r>
              <a:t>PK order_item_id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84264" y="2788920"/>
            <a:ext cx="219456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740" b="0">
                <a:solidFill>
                  <a:srgbClr val="20334A"/>
                </a:solidFill>
                <a:latin typeface="Aptos"/>
              </a:defRPr>
            </a:pPr>
            <a:r>
              <a:t>FK order_id | FK product_id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47104" y="4251960"/>
            <a:ext cx="242316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547104" y="4251960"/>
            <a:ext cx="2423160" cy="274320"/>
          </a:xfrm>
          <a:prstGeom prst="roundRect">
            <a:avLst/>
          </a:prstGeom>
          <a:solidFill>
            <a:srgbClr val="286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84264" y="4306824"/>
            <a:ext cx="219456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900" b="1">
                <a:solidFill>
                  <a:srgbClr val="FFFFFF"/>
                </a:solidFill>
                <a:latin typeface="Aptos"/>
              </a:defRPr>
            </a:pPr>
            <a:r>
              <a:t>Products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84264" y="4645152"/>
            <a:ext cx="219456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740" b="0">
                <a:solidFill>
                  <a:srgbClr val="20334A"/>
                </a:solidFill>
                <a:latin typeface="Aptos"/>
              </a:defRPr>
            </a:pPr>
            <a:r>
              <a:t>PK product_id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84264" y="4892040"/>
            <a:ext cx="219456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740" b="0">
                <a:solidFill>
                  <a:srgbClr val="20334A"/>
                </a:solidFill>
                <a:latin typeface="Aptos"/>
              </a:defRPr>
            </a:pPr>
            <a:r>
              <a:t>FK category_id | price | stock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308592" y="4251960"/>
            <a:ext cx="224028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308592" y="4251960"/>
            <a:ext cx="2240280" cy="274320"/>
          </a:xfrm>
          <a:prstGeom prst="roundRect">
            <a:avLst/>
          </a:prstGeom>
          <a:solidFill>
            <a:srgbClr val="E5A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45752" y="4306824"/>
            <a:ext cx="201168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900" b="1">
                <a:solidFill>
                  <a:srgbClr val="FFFFFF"/>
                </a:solidFill>
                <a:latin typeface="Aptos"/>
              </a:defRPr>
            </a:pPr>
            <a:r>
              <a:t>Categories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45752" y="4645152"/>
            <a:ext cx="201168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740" b="0">
                <a:solidFill>
                  <a:srgbClr val="20334A"/>
                </a:solidFill>
                <a:latin typeface="Aptos"/>
              </a:defRPr>
            </a:pPr>
            <a:r>
              <a:t>PK category_id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45752" y="4892040"/>
            <a:ext cx="201168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740" b="0">
                <a:solidFill>
                  <a:srgbClr val="20334A"/>
                </a:solidFill>
                <a:latin typeface="Aptos"/>
              </a:defRPr>
            </a:pPr>
            <a:r>
              <a:t>category_name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127248" y="2331720"/>
            <a:ext cx="694944" cy="274320"/>
          </a:xfrm>
          <a:prstGeom prst="roundRect">
            <a:avLst/>
          </a:prstGeom>
          <a:solidFill>
            <a:srgbClr val="286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163824" y="2363724"/>
            <a:ext cx="621792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1 : MANY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98464" y="2331720"/>
            <a:ext cx="694944" cy="274320"/>
          </a:xfrm>
          <a:prstGeom prst="roundRect">
            <a:avLst/>
          </a:prstGeom>
          <a:solidFill>
            <a:srgbClr val="2AB3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035040" y="2363724"/>
            <a:ext cx="621792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1 : MANY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863840" y="3419856"/>
            <a:ext cx="841248" cy="274320"/>
          </a:xfrm>
          <a:prstGeom prst="roundRect">
            <a:avLst/>
          </a:prstGeom>
          <a:solidFill>
            <a:srgbClr val="2D9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900415" y="3451860"/>
            <a:ext cx="768096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MANY : 1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933688" y="5001768"/>
            <a:ext cx="868680" cy="274320"/>
          </a:xfrm>
          <a:prstGeom prst="roundRect">
            <a:avLst/>
          </a:prstGeom>
          <a:solidFill>
            <a:srgbClr val="E5A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70263" y="5033772"/>
            <a:ext cx="795528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MANY : 1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05840" y="5486400"/>
            <a:ext cx="10149840" cy="475488"/>
          </a:xfrm>
          <a:prstGeom prst="roundRect">
            <a:avLst/>
          </a:prstGeom>
          <a:solidFill>
            <a:srgbClr val="EAF1FA"/>
          </a:solidFill>
          <a:ln w="12700">
            <a:solidFill>
              <a:srgbClr val="D3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43000" y="5614416"/>
            <a:ext cx="987552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defRPr sz="1000" b="1">
                <a:solidFill>
                  <a:srgbClr val="16324F"/>
                </a:solidFill>
                <a:latin typeface="Aptos"/>
              </a:defRPr>
            </a:pPr>
            <a:r>
              <a:t>Customers  -&gt;  Orders  -&gt;  OrderItems  &lt;-  Products  &lt;-  Categories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914400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800" b="1">
                <a:solidFill>
                  <a:srgbClr val="61758A"/>
                </a:solidFill>
                <a:latin typeface="Aptos"/>
              </a:defRPr>
            </a:pPr>
            <a:r>
              <a:t>CRUD, FILTERING, AND SORTING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6373368"/>
            <a:ext cx="11183112" cy="0"/>
          </a:xfrm>
          <a:prstGeom prst="line">
            <a:avLst/>
          </a:prstGeom>
          <a:ln w="7620">
            <a:solidFill>
              <a:srgbClr val="D8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384280" y="6501384"/>
            <a:ext cx="32004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defRPr sz="800" b="1">
                <a:solidFill>
                  <a:srgbClr val="61758A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38912"/>
            <a:ext cx="82296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900" b="1">
                <a:solidFill>
                  <a:srgbClr val="2864DC"/>
                </a:solidFill>
                <a:latin typeface="Aptos"/>
              </a:defRPr>
            </a:pPr>
            <a:r>
              <a:t>05 / SQL IN 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786384"/>
            <a:ext cx="10972800" cy="42062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2400" b="1">
                <a:solidFill>
                  <a:srgbClr val="102A43"/>
                </a:solidFill>
                <a:latin typeface="Aptos"/>
              </a:defRPr>
            </a:pPr>
            <a:r>
              <a:t>Find and manage product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280160"/>
            <a:ext cx="1097280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050" b="0">
                <a:solidFill>
                  <a:srgbClr val="61758A"/>
                </a:solidFill>
                <a:latin typeface="Aptos"/>
              </a:defRPr>
            </a:pPr>
            <a:r>
              <a:t>CRUD means Create, Read, Update, and Delete.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691640"/>
            <a:ext cx="3703320" cy="4343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965960"/>
            <a:ext cx="3108960" cy="21031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100" b="1">
                <a:solidFill>
                  <a:srgbClr val="2864DC"/>
                </a:solidFill>
                <a:latin typeface="Aptos"/>
              </a:defRPr>
            </a:pPr>
            <a:r>
              <a:t>CRUD OPERATIONS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2578608"/>
            <a:ext cx="1508760" cy="274320"/>
          </a:xfrm>
          <a:prstGeom prst="roundRect">
            <a:avLst/>
          </a:prstGeom>
          <a:solidFill>
            <a:srgbClr val="286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610612"/>
            <a:ext cx="1435607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CREATE / INSERT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42032" y="2624327"/>
            <a:ext cx="150876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869" b="0">
                <a:solidFill>
                  <a:srgbClr val="20334A"/>
                </a:solidFill>
                <a:latin typeface="Aptos"/>
              </a:defRPr>
            </a:pPr>
            <a:r>
              <a:t>Add a product row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3255263"/>
            <a:ext cx="1298448" cy="274320"/>
          </a:xfrm>
          <a:prstGeom prst="roundRect">
            <a:avLst/>
          </a:prstGeom>
          <a:solidFill>
            <a:srgbClr val="286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" y="3287268"/>
            <a:ext cx="1225295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READ / SELECT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42032" y="3300983"/>
            <a:ext cx="150876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869" b="0">
                <a:solidFill>
                  <a:srgbClr val="20334A"/>
                </a:solidFill>
                <a:latin typeface="Aptos"/>
              </a:defRPr>
            </a:pPr>
            <a:r>
              <a:t>View and search products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3931920"/>
            <a:ext cx="1298448" cy="274320"/>
          </a:xfrm>
          <a:prstGeom prst="round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5256" y="3963924"/>
            <a:ext cx="1225295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UPDATE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42032" y="3977639"/>
            <a:ext cx="150876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869" b="0">
                <a:solidFill>
                  <a:srgbClr val="20334A"/>
                </a:solidFill>
                <a:latin typeface="Aptos"/>
              </a:defRPr>
            </a:pPr>
            <a:r>
              <a:t>Change price or stock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4608575"/>
            <a:ext cx="1298448" cy="274320"/>
          </a:xfrm>
          <a:prstGeom prst="round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5256" y="4640579"/>
            <a:ext cx="1225295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DELETE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42032" y="4654295"/>
            <a:ext cx="150876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869" b="0">
                <a:solidFill>
                  <a:srgbClr val="20334A"/>
                </a:solidFill>
                <a:latin typeface="Aptos"/>
              </a:defRPr>
            </a:pPr>
            <a:r>
              <a:t>Remove a selected row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449824"/>
            <a:ext cx="3154680" cy="4114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869" b="0">
                <a:solidFill>
                  <a:srgbClr val="61758A"/>
                </a:solidFill>
                <a:latin typeface="Aptos"/>
              </a:defRPr>
            </a:pPr>
            <a:r>
              <a:t>Use WHERE with UPDATE and DELETE so only the intended row is changed.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26280" y="1691640"/>
            <a:ext cx="7059168" cy="4343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00600" y="1965960"/>
            <a:ext cx="4572000" cy="21031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100" b="1">
                <a:solidFill>
                  <a:srgbClr val="2864DC"/>
                </a:solidFill>
                <a:latin typeface="Aptos"/>
              </a:defRPr>
            </a:pPr>
            <a:r>
              <a:t>FILTER + SORT EXAMPLE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800600" y="2743200"/>
            <a:ext cx="6492240" cy="1965960"/>
          </a:xfrm>
          <a:prstGeom prst="roundRect">
            <a:avLst/>
          </a:prstGeom>
          <a:solidFill>
            <a:srgbClr val="F8FAFD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46904" y="2852928"/>
            <a:ext cx="6199631" cy="21259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900" b="0">
                <a:solidFill>
                  <a:srgbClr val="16324F"/>
                </a:solidFill>
                <a:latin typeface="Consolas"/>
              </a:defRPr>
            </a:pPr>
            <a:r>
              <a:t>SELECT product_name, price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46904" y="3010662"/>
            <a:ext cx="6199631" cy="21259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900" b="0">
                <a:solidFill>
                  <a:srgbClr val="16324F"/>
                </a:solidFill>
                <a:latin typeface="Consolas"/>
              </a:defRPr>
            </a:pPr>
            <a:r>
              <a:t>FROM Products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46904" y="3168396"/>
            <a:ext cx="6199631" cy="21259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900" b="0">
                <a:solidFill>
                  <a:srgbClr val="16324F"/>
                </a:solidFill>
                <a:latin typeface="Consolas"/>
              </a:defRPr>
            </a:pPr>
            <a:r>
              <a:t>WHERE price BETWEEN 500 AND 1500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46904" y="3326130"/>
            <a:ext cx="6199631" cy="21259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900" b="0">
                <a:solidFill>
                  <a:srgbClr val="16324F"/>
                </a:solidFill>
                <a:latin typeface="Consolas"/>
              </a:defRPr>
            </a:pPr>
            <a:r>
              <a:t>  AND product_name LIKE '%Laptop%'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46904" y="3483864"/>
            <a:ext cx="6199631" cy="21259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900" b="0">
                <a:solidFill>
                  <a:srgbClr val="16324F"/>
                </a:solidFill>
                <a:latin typeface="Consolas"/>
              </a:defRPr>
            </a:pPr>
            <a:r>
              <a:t>ORDER BY price DESC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46904" y="3641598"/>
            <a:ext cx="6199631" cy="21259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900" b="0">
                <a:solidFill>
                  <a:srgbClr val="16324F"/>
                </a:solidFill>
                <a:latin typeface="Consolas"/>
              </a:defRPr>
            </a:pPr>
            <a:r>
              <a:t>LIMIT 5 OFFSET 0;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00600" y="4882896"/>
            <a:ext cx="6217920" cy="21031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900" b="1">
                <a:solidFill>
                  <a:srgbClr val="2864DC"/>
                </a:solidFill>
                <a:latin typeface="Aptos"/>
              </a:defRPr>
            </a:pPr>
            <a:r>
              <a:t>WHERE | AND | OR | NOT | IN | BETWEEN | LIKE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00600" y="5193792"/>
            <a:ext cx="6309360" cy="4572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900" b="0">
                <a:solidFill>
                  <a:srgbClr val="20334A"/>
                </a:solidFill>
                <a:latin typeface="Aptos"/>
              </a:defRPr>
            </a:pPr>
            <a:r>
              <a:t>ORDER BY | LIMIT | OFFSET - find, sort, and page through results.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914400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800" b="1">
                <a:solidFill>
                  <a:srgbClr val="61758A"/>
                </a:solidFill>
                <a:latin typeface="Aptos"/>
              </a:defRPr>
            </a:pPr>
            <a:r>
              <a:t>AGGREGATES AND JOINS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6373368"/>
            <a:ext cx="11183112" cy="0"/>
          </a:xfrm>
          <a:prstGeom prst="line">
            <a:avLst/>
          </a:prstGeom>
          <a:ln w="7620">
            <a:solidFill>
              <a:srgbClr val="D8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384280" y="6501384"/>
            <a:ext cx="32004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defRPr sz="800" b="1">
                <a:solidFill>
                  <a:srgbClr val="61758A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38912"/>
            <a:ext cx="82296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900" b="1">
                <a:solidFill>
                  <a:srgbClr val="2864DC"/>
                </a:solidFill>
                <a:latin typeface="Aptos"/>
              </a:defRPr>
            </a:pPr>
            <a:r>
              <a:t>06 / SUMMARIZE AND CONNECT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786384"/>
            <a:ext cx="10972800" cy="42062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2400" b="1">
                <a:solidFill>
                  <a:srgbClr val="102A43"/>
                </a:solidFill>
                <a:latin typeface="Aptos"/>
              </a:defRPr>
            </a:pPr>
            <a:r>
              <a:t>SQL answers bigger questions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280160"/>
            <a:ext cx="1097280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050" b="0">
                <a:solidFill>
                  <a:srgbClr val="61758A"/>
                </a:solidFill>
                <a:latin typeface="Aptos"/>
              </a:defRPr>
            </a:pPr>
            <a:r>
              <a:t>Aggregates summarize rows; joins combine related information from tables.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691640"/>
            <a:ext cx="5349240" cy="4343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965960"/>
            <a:ext cx="4480560" cy="21031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100" b="1">
                <a:solidFill>
                  <a:srgbClr val="2864DC"/>
                </a:solidFill>
                <a:latin typeface="Aptos"/>
              </a:defRPr>
            </a:pPr>
            <a:r>
              <a:t>AGGREGATE FUNCTIONS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86000"/>
            <a:ext cx="448056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000" b="0">
                <a:solidFill>
                  <a:srgbClr val="20334A"/>
                </a:solidFill>
                <a:latin typeface="Aptos"/>
              </a:defRPr>
            </a:pPr>
            <a:r>
              <a:t>Use these to calculate summaries from many rows.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2788920"/>
            <a:ext cx="4800600" cy="1993392"/>
          </a:xfrm>
          <a:prstGeom prst="roundRect">
            <a:avLst/>
          </a:prstGeom>
          <a:solidFill>
            <a:srgbClr val="F8FAFD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4983" y="2898648"/>
            <a:ext cx="4507992" cy="21259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900" b="0">
                <a:solidFill>
                  <a:srgbClr val="16324F"/>
                </a:solidFill>
                <a:latin typeface="Consolas"/>
              </a:defRPr>
            </a:pPr>
            <a:r>
              <a:t>SELECT category_id,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4983" y="3056382"/>
            <a:ext cx="4507992" cy="21259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900" b="0">
                <a:solidFill>
                  <a:srgbClr val="16324F"/>
                </a:solidFill>
                <a:latin typeface="Consolas"/>
              </a:defRPr>
            </a:pPr>
            <a:r>
              <a:t>       COUNT(*) AS products,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4983" y="3214115"/>
            <a:ext cx="4507992" cy="21259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900" b="0">
                <a:solidFill>
                  <a:srgbClr val="16324F"/>
                </a:solidFill>
                <a:latin typeface="Consolas"/>
              </a:defRPr>
            </a:pPr>
            <a:r>
              <a:t>       AVG(price) AS avg_price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4983" y="3371850"/>
            <a:ext cx="4507992" cy="21259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900" b="0">
                <a:solidFill>
                  <a:srgbClr val="16324F"/>
                </a:solidFill>
                <a:latin typeface="Consolas"/>
              </a:defRPr>
            </a:pPr>
            <a:r>
              <a:t>FROM Products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4983" y="3529584"/>
            <a:ext cx="4507992" cy="21259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900" b="0">
                <a:solidFill>
                  <a:srgbClr val="16324F"/>
                </a:solidFill>
                <a:latin typeface="Consolas"/>
              </a:defRPr>
            </a:pPr>
            <a:r>
              <a:t>GROUP BY category_id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4983" y="3687318"/>
            <a:ext cx="4507992" cy="21259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900" b="0">
                <a:solidFill>
                  <a:srgbClr val="16324F"/>
                </a:solidFill>
                <a:latin typeface="Consolas"/>
              </a:defRPr>
            </a:pPr>
            <a:r>
              <a:t>HAVING AVG(price) &gt; 500;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010912"/>
            <a:ext cx="45720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900" b="1">
                <a:solidFill>
                  <a:srgbClr val="2864DC"/>
                </a:solidFill>
                <a:latin typeface="Aptos"/>
              </a:defRPr>
            </a:pPr>
            <a:r>
              <a:t>COUNT | SUM | AVG | MIN | MAX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321808"/>
            <a:ext cx="466344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880" b="0">
                <a:solidFill>
                  <a:srgbClr val="61758A"/>
                </a:solidFill>
                <a:latin typeface="Aptos"/>
              </a:defRPr>
            </a:pPr>
            <a:r>
              <a:t>GROUP BY groups; HAVING filters those groups.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1691640"/>
            <a:ext cx="5367528" cy="4343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1965960"/>
            <a:ext cx="4389120" cy="21031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100" b="1">
                <a:solidFill>
                  <a:srgbClr val="2864DC"/>
                </a:solidFill>
                <a:latin typeface="Aptos"/>
              </a:defRPr>
            </a:pPr>
            <a:r>
              <a:t>JOINS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92240" y="2423160"/>
            <a:ext cx="1508760" cy="274320"/>
          </a:xfrm>
          <a:prstGeom prst="roundRect">
            <a:avLst/>
          </a:prstGeom>
          <a:solidFill>
            <a:srgbClr val="286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28816" y="2455164"/>
            <a:ext cx="1435607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INNER JOIN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22208" y="2468879"/>
            <a:ext cx="265176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900" b="0">
                <a:solidFill>
                  <a:srgbClr val="20334A"/>
                </a:solidFill>
                <a:latin typeface="Aptos"/>
              </a:defRPr>
            </a:pPr>
            <a:r>
              <a:t>only matching rows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92240" y="2907791"/>
            <a:ext cx="1508760" cy="274320"/>
          </a:xfrm>
          <a:prstGeom prst="roundRect">
            <a:avLst/>
          </a:prstGeom>
          <a:solidFill>
            <a:srgbClr val="286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28816" y="2939796"/>
            <a:ext cx="1435607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LEFT JOIN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22208" y="2953511"/>
            <a:ext cx="265176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900" b="0">
                <a:solidFill>
                  <a:srgbClr val="20334A"/>
                </a:solidFill>
                <a:latin typeface="Aptos"/>
              </a:defRPr>
            </a:pPr>
            <a:r>
              <a:t>all left rows + matches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92240" y="3392424"/>
            <a:ext cx="1508760" cy="274320"/>
          </a:xfrm>
          <a:prstGeom prst="roundRect">
            <a:avLst/>
          </a:prstGeom>
          <a:solidFill>
            <a:srgbClr val="286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28816" y="3424428"/>
            <a:ext cx="1435607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RIGHT JOIN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22208" y="3438144"/>
            <a:ext cx="265176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900" b="0">
                <a:solidFill>
                  <a:srgbClr val="20334A"/>
                </a:solidFill>
                <a:latin typeface="Aptos"/>
              </a:defRPr>
            </a:pPr>
            <a:r>
              <a:t>all right rows + matches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92240" y="3877056"/>
            <a:ext cx="1828800" cy="274320"/>
          </a:xfrm>
          <a:prstGeom prst="roundRect">
            <a:avLst/>
          </a:prstGeom>
          <a:solidFill>
            <a:srgbClr val="286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28816" y="3909060"/>
            <a:ext cx="1755648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FULL OUTER JOIN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22208" y="3922776"/>
            <a:ext cx="265176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900" b="0">
                <a:solidFill>
                  <a:srgbClr val="20334A"/>
                </a:solidFill>
                <a:latin typeface="Aptos"/>
              </a:defRPr>
            </a:pPr>
            <a:r>
              <a:t>all rows from either side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92240" y="4361688"/>
            <a:ext cx="1508760" cy="274320"/>
          </a:xfrm>
          <a:prstGeom prst="roundRect">
            <a:avLst/>
          </a:prstGeom>
          <a:solidFill>
            <a:srgbClr val="286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28816" y="4393692"/>
            <a:ext cx="1435607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SELF JOIN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22208" y="4407407"/>
            <a:ext cx="265176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900" b="0">
                <a:solidFill>
                  <a:srgbClr val="20334A"/>
                </a:solidFill>
                <a:latin typeface="Aptos"/>
              </a:defRPr>
            </a:pPr>
            <a:r>
              <a:t>a table joined to itself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92240" y="4983480"/>
            <a:ext cx="4754880" cy="685800"/>
          </a:xfrm>
          <a:prstGeom prst="roundRect">
            <a:avLst/>
          </a:prstGeom>
          <a:solidFill>
            <a:srgbClr val="F8FAFD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38544" y="5093208"/>
            <a:ext cx="4462272" cy="188061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760" b="0">
                <a:solidFill>
                  <a:srgbClr val="16324F"/>
                </a:solidFill>
                <a:latin typeface="Consolas"/>
              </a:defRPr>
            </a:pPr>
            <a:r>
              <a:t>SELECT c.name, o.order_id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38544" y="5226405"/>
            <a:ext cx="4462272" cy="188061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760" b="0">
                <a:solidFill>
                  <a:srgbClr val="16324F"/>
                </a:solidFill>
                <a:latin typeface="Consolas"/>
              </a:defRPr>
            </a:pPr>
            <a:r>
              <a:t>FROM Customers c JOIN Orders o ON c.customer_id = o.customer_id;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058400" y="-457200"/>
            <a:ext cx="2743200" cy="2743200"/>
          </a:xfrm>
          <a:prstGeom prst="roundRect">
            <a:avLst/>
          </a:prstGeom>
          <a:solidFill>
            <a:srgbClr val="1B47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914400" y="5943600"/>
            <a:ext cx="2377440" cy="2377440"/>
          </a:xfrm>
          <a:prstGeom prst="roundRect">
            <a:avLst/>
          </a:prstGeom>
          <a:solidFill>
            <a:srgbClr val="1D56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49808" y="868680"/>
            <a:ext cx="1783080" cy="274320"/>
          </a:xfrm>
          <a:prstGeom prst="roundRect">
            <a:avLst/>
          </a:prstGeom>
          <a:solidFill>
            <a:srgbClr val="2AB3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6384" y="900684"/>
            <a:ext cx="1709928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END OF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828800"/>
            <a:ext cx="7315200" cy="685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4200" b="1">
                <a:solidFill>
                  <a:srgbClr val="FFFFFF"/>
                </a:solidFill>
                <a:latin typeface="Aptos"/>
              </a:defRPr>
            </a:pPr>
            <a:r>
              <a:t>Thank you!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514600"/>
            <a:ext cx="457200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2000" b="0">
                <a:solidFill>
                  <a:srgbClr val="D6E5F5"/>
                </a:solidFill>
                <a:latin typeface="Aptos"/>
              </a:defRPr>
            </a:pPr>
            <a:r>
              <a:t>Questions?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794760"/>
            <a:ext cx="1417320" cy="274320"/>
          </a:xfrm>
          <a:prstGeom prst="roundRect">
            <a:avLst/>
          </a:prstGeom>
          <a:solidFill>
            <a:srgbClr val="286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" y="3826764"/>
            <a:ext cx="1344168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PROJECT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0" y="3794760"/>
            <a:ext cx="1417320" cy="274320"/>
          </a:xfrm>
          <a:prstGeom prst="roundRect">
            <a:avLst/>
          </a:prstGeom>
          <a:solidFill>
            <a:srgbClr val="2AB3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96896" y="3826764"/>
            <a:ext cx="1344168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3-TIER FLOW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3794760"/>
            <a:ext cx="1417320" cy="274320"/>
          </a:xfrm>
          <a:prstGeom prst="roundRect">
            <a:avLst/>
          </a:prstGeom>
          <a:solidFill>
            <a:srgbClr val="2D9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79976" y="3826764"/>
            <a:ext cx="1344168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ERD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79" y="3794760"/>
            <a:ext cx="1417320" cy="274320"/>
          </a:xfrm>
          <a:prstGeom prst="roundRect">
            <a:avLst/>
          </a:prstGeom>
          <a:solidFill>
            <a:srgbClr val="E5A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63055" y="3826764"/>
            <a:ext cx="1344168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SQL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919472"/>
            <a:ext cx="9875520" cy="5486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200" b="0">
                <a:solidFill>
                  <a:srgbClr val="D6E5F5"/>
                </a:solidFill>
                <a:latin typeface="Aptos"/>
              </a:defRPr>
            </a:pPr>
            <a:r>
              <a:t>Project interface  |  Frontend  |  Backend  |  Database  |  Tables  |  SQL operations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6126480"/>
            <a:ext cx="640080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900" b="1">
                <a:solidFill>
                  <a:srgbClr val="D6E5F5"/>
                </a:solidFill>
                <a:latin typeface="Aptos"/>
              </a:defRPr>
            </a:pPr>
            <a:r>
              <a:t>E-COMMERCE STORE DATABASE PROJECT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82296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1">
                <a:solidFill>
                  <a:srgbClr val="2864DC"/>
                </a:solidFill>
                <a:latin typeface="Aptos"/>
              </a:defRPr>
            </a:pPr>
            <a:r>
              <a:t>01 / PROJECT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86384"/>
            <a:ext cx="10972800" cy="42062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400" b="1">
                <a:solidFill>
                  <a:srgbClr val="102A43"/>
                </a:solidFill>
                <a:latin typeface="Aptos"/>
              </a:defRPr>
            </a:pPr>
            <a:r>
              <a:t>NEXORA sign-in page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80160"/>
            <a:ext cx="109728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50" b="0">
                <a:solidFill>
                  <a:srgbClr val="61758A"/>
                </a:solidFill>
                <a:latin typeface="Aptos"/>
              </a:defRPr>
            </a:pPr>
            <a:r>
              <a:t>A real screenshot of the running project login interface.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755648"/>
            <a:ext cx="3337560" cy="4160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2029968"/>
            <a:ext cx="2816352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2864DC"/>
                </a:solidFill>
                <a:latin typeface="Aptos"/>
              </a:defRPr>
            </a:pPr>
            <a:r>
              <a:t>ACCOUNT INTERFACE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441448"/>
            <a:ext cx="2816352" cy="7132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1">
                <a:solidFill>
                  <a:srgbClr val="102A43"/>
                </a:solidFill>
                <a:latin typeface="Aptos"/>
              </a:defRPr>
            </a:pPr>
            <a:r>
              <a:t>Sign in to access the online store account.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3337560"/>
            <a:ext cx="2770632" cy="22402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20334A"/>
                </a:solidFill>
                <a:latin typeface="Aptos"/>
              </a:defRPr>
            </a:pPr>
            <a:r>
              <a:t>This screen lets a customer:</a:t>
            </a:r>
            <a:br/>
            <a:br/>
            <a:r>
              <a:t>- Enter an email address and password</a:t>
            </a:r>
            <a:br/>
            <a:r>
              <a:t>- Sign in to their account</a:t>
            </a:r>
            <a:br/>
            <a:r>
              <a:t>- Access saved products, cart, orders, and delivery addresses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1737360"/>
            <a:ext cx="7424927" cy="41788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nexora_login_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1104" y="1847088"/>
            <a:ext cx="7223760" cy="4059936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02920" y="6373368"/>
            <a:ext cx="11183112" cy="9144"/>
          </a:xfrm>
          <a:prstGeom prst="rect">
            <a:avLst/>
          </a:prstGeom>
          <a:solidFill>
            <a:srgbClr val="D8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01384"/>
            <a:ext cx="914400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800" b="1">
                <a:solidFill>
                  <a:srgbClr val="61758A"/>
                </a:solidFill>
                <a:latin typeface="Aptos"/>
              </a:defRPr>
            </a:pPr>
            <a:r>
              <a:t>LIVE PROJECT LOGIN SCREEN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84280" y="6501384"/>
            <a:ext cx="32004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800" b="1">
                <a:solidFill>
                  <a:srgbClr val="61758A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